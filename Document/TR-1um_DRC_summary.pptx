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68" r:id="rId15"/>
    <p:sldId id="269" r:id="rId16"/>
    <p:sldId id="277" r:id="rId17"/>
    <p:sldId id="278" r:id="rId18"/>
    <p:sldId id="280" r:id="rId19"/>
    <p:sldId id="287" r:id="rId20"/>
    <p:sldId id="285" r:id="rId21"/>
    <p:sldId id="288" r:id="rId22"/>
    <p:sldId id="289" r:id="rId23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019"/>
    <p:restoredTop sz="94286"/>
  </p:normalViewPr>
  <p:slideViewPr>
    <p:cSldViewPr snapToGrid="0">
      <p:cViewPr varScale="1">
        <p:scale>
          <a:sx n="102" d="100"/>
          <a:sy n="102" d="100"/>
        </p:scale>
        <p:origin x="216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3640924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2026/01/14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2026/01/14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4" name="Picture 3" descr="A table with text and numbers&#10;&#10;AI-generated content may be incorrect.">
            <a:extLst>
              <a:ext uri="{FF2B5EF4-FFF2-40B4-BE49-F238E27FC236}">
                <a16:creationId xmlns:a16="http://schemas.microsoft.com/office/drawing/2014/main" id="{5BE2BE09-7306-4A1C-AC7E-A2BC5F872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8094" y="461665"/>
            <a:ext cx="6395812" cy="633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555544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555544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3036144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976001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3036144" y="1294040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976001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4459889" y="779233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4385816" y="768285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4729889" y="1049233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393BAF9D-9324-5714-5D40-7F46C009AE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8449271"/>
              </p:ext>
            </p:extLst>
          </p:nvPr>
        </p:nvGraphicFramePr>
        <p:xfrm>
          <a:off x="7740000" y="540000"/>
          <a:ext cx="4271999" cy="254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4337561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5456033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5962511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82863869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01159174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1643685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42629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2069336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615428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AA+GC+GR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9134183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1549774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136311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929831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7850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5412347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PO.Z3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Exist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6717096"/>
                  </a:ext>
                </a:extLst>
              </a:tr>
            </a:tbl>
          </a:graphicData>
        </a:graphic>
      </p:graphicFrame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4837311" y="1148565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31ACE4B-7D1A-8304-A0B2-5F725A6741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42217644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675201804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573199671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05312228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742548007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253275338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421918098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430073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9256721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8177395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345807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WN.S3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8252428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WN.S4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71077594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WN.S5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8.0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8337558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WN.S6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22214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629182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0721529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3157206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50887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9136174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337771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28.5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1405092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4383275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8915412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068495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83129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80115151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8326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4573010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4598017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AFFB2A9-461E-4DF6-0B97-9C7679CF28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0221330"/>
              </p:ext>
            </p:extLst>
          </p:nvPr>
        </p:nvGraphicFramePr>
        <p:xfrm>
          <a:off x="7740000" y="540000"/>
          <a:ext cx="4272001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391212256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927161900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45905246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1428038921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161838585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3638228789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073265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10850911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7400638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01935776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9827697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727928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1442913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200640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5201669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775543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80850709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53885582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16145291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6816799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0111538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600067830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30990134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11626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937580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9152435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346438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>
            <a:off x="2776518" y="137547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25EA30-B491-CCF2-0BA2-3660DDB40A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020601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14018029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394938990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51833771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622190964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40424158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26785917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7038528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66176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46090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4628682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1560399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7720251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GC.EN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ECmin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762929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98545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389590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CO.WD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53783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CO.AD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CO(D)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AP+AN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9057300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75306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4605731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CO.GG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GC(G)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35154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GC+GR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2277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6553052" y="5601492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9AF928A-1630-FD4A-9ED9-F2CF8F0E45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638947"/>
              </p:ext>
            </p:extLst>
          </p:nvPr>
        </p:nvGraphicFramePr>
        <p:xfrm>
          <a:off x="7740000" y="540000"/>
          <a:ext cx="4272001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64065483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4246942815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1727879732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53013889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839787633"/>
                    </a:ext>
                  </a:extLst>
                </a:gridCol>
                <a:gridCol w="592085">
                  <a:extLst>
                    <a:ext uri="{9D8B030D-6E8A-4147-A177-3AD203B41FA5}">
                      <a16:colId xmlns:a16="http://schemas.microsoft.com/office/drawing/2014/main" val="1489835841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77094234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6282648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RR(W)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3284985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4290051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1905862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13880259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???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0479786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GC(AR)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Donut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028836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GC.R2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TieDown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628491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6395879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GR.L1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45869014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GR.S1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86259642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0842110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CR.W2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CL(RR)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97.5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6200613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CR.AT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AR(T)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544317129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CR.AS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CO(RR)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AR(S)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644875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72244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6716782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2.9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81097640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CC.AN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4228920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843483" y="33170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M1.S2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FAE2DEC-5C0D-8C41-D89B-43D4DC19B1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6329291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403070121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110875928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993873384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233970106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31639359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996599407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652985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006852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0327737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4021881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CO(S)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0.8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690323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CO(C)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9948482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891404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M1.SW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M1(W)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509400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806263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1.5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68007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26759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1.2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0093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6488293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V1.CL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CO(L)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268136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366528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68969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64284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graphicFrame>
        <p:nvGraphicFramePr>
          <p:cNvPr id="158" name="Table 157">
            <a:extLst>
              <a:ext uri="{FF2B5EF4-FFF2-40B4-BE49-F238E27FC236}">
                <a16:creationId xmlns:a16="http://schemas.microsoft.com/office/drawing/2014/main" id="{ABB6F537-08FF-1578-E941-0A4D6B57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6772033"/>
              </p:ext>
            </p:extLst>
          </p:nvPr>
        </p:nvGraphicFramePr>
        <p:xfrm>
          <a:off x="7740000" y="540000"/>
          <a:ext cx="4271999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722434179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911315783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329565773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57238071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846625125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2615169393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595223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12361029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941378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2119235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3935559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4719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ANE.WM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AN-GC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11.0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656136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ANE.LM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NMOS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GC-AN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Lmin/max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919242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7072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ANE.XY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Bevel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XYmin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1.4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2841909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ANE.CO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2.0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4868944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Wfix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886053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1.6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146415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CD(E)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465747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CSE.GC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CS(E)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3.0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9581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4034497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COE.AN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CO(E) 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0861851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V1.PO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217E-ABEE-29D2-7C17-1BF1BBA2C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BCA2-7BF3-736F-F610-BA68D29A5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216535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BE9863-C83C-E320-433A-B5654593295F}"/>
              </a:ext>
            </a:extLst>
          </p:cNvPr>
          <p:cNvSpPr/>
          <p:nvPr/>
        </p:nvSpPr>
        <p:spPr>
          <a:xfrm>
            <a:off x="1017270" y="1006157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Design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57E010-84C8-3A2B-FCD3-AFFB8570F5CE}"/>
              </a:ext>
            </a:extLst>
          </p:cNvPr>
          <p:cNvSpPr/>
          <p:nvPr/>
        </p:nvSpPr>
        <p:spPr>
          <a:xfrm>
            <a:off x="1017270" y="1989219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(simulation)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5D78D0-6051-D111-D44A-D7EB963B3426}"/>
              </a:ext>
            </a:extLst>
          </p:cNvPr>
          <p:cNvSpPr/>
          <p:nvPr/>
        </p:nvSpPr>
        <p:spPr>
          <a:xfrm>
            <a:off x="1017270" y="2972281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Layout Design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(Drawing Layer)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7680D8-4390-B7B7-536A-FC579D75E21F}"/>
              </a:ext>
            </a:extLst>
          </p:cNvPr>
          <p:cNvSpPr/>
          <p:nvPr/>
        </p:nvSpPr>
        <p:spPr>
          <a:xfrm>
            <a:off x="1017270" y="3955343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(DRC/LVS)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9815386-03BA-A085-A0A5-9699AB715E23}"/>
              </a:ext>
            </a:extLst>
          </p:cNvPr>
          <p:cNvSpPr/>
          <p:nvPr/>
        </p:nvSpPr>
        <p:spPr>
          <a:xfrm>
            <a:off x="1017270" y="493840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Circuit verification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by Extracted net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6C07ACD-44E6-D523-1B36-9023930EC1C2}"/>
              </a:ext>
            </a:extLst>
          </p:cNvPr>
          <p:cNvSpPr/>
          <p:nvPr/>
        </p:nvSpPr>
        <p:spPr>
          <a:xfrm>
            <a:off x="4656000" y="1006157"/>
            <a:ext cx="2880000" cy="1008000"/>
          </a:xfrm>
          <a:prstGeom prst="rect">
            <a:avLst/>
          </a:prstGeom>
          <a:ln>
            <a:solidFill>
              <a:srgbClr val="FFC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(Generate Masks/DLXXX)</a:t>
            </a:r>
          </a:p>
          <a:p>
            <a:pPr algn="ctr"/>
            <a:r>
              <a:rPr lang="en-US" dirty="0">
                <a:solidFill>
                  <a:srgbClr val="7030A0"/>
                </a:solidFill>
              </a:rPr>
              <a:t>MDP_TR-1um_to_IP62.py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597823-3298-2312-D74D-D5CE86991AAF}"/>
              </a:ext>
            </a:extLst>
          </p:cNvPr>
          <p:cNvSpPr/>
          <p:nvPr/>
        </p:nvSpPr>
        <p:spPr>
          <a:xfrm>
            <a:off x="4656000" y="2349219"/>
            <a:ext cx="2880000" cy="1008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Physical verification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(DRC for Mask Layers)</a:t>
            </a:r>
          </a:p>
          <a:p>
            <a:pPr algn="ctr"/>
            <a:r>
              <a:rPr lang="en-JP" dirty="0">
                <a:solidFill>
                  <a:srgbClr val="7030A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DRC(MASK)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3A22AF-3577-C333-9AF5-B87876E02059}"/>
              </a:ext>
            </a:extLst>
          </p:cNvPr>
          <p:cNvSpPr/>
          <p:nvPr/>
        </p:nvSpPr>
        <p:spPr>
          <a:xfrm>
            <a:off x="4656000" y="3692281"/>
            <a:ext cx="2880000" cy="72000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Tapeout to Fab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721B7E7-5E00-31BB-8D94-47874A1F39ED}"/>
              </a:ext>
            </a:extLst>
          </p:cNvPr>
          <p:cNvSpPr/>
          <p:nvPr/>
        </p:nvSpPr>
        <p:spPr>
          <a:xfrm>
            <a:off x="8294730" y="1006157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 in Fab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DF9E5BB5-A61C-9EE9-9A7A-DA78B4CC1879}"/>
              </a:ext>
            </a:extLst>
          </p:cNvPr>
          <p:cNvSpPr txBox="1">
            <a:spLocks/>
          </p:cNvSpPr>
          <p:nvPr/>
        </p:nvSpPr>
        <p:spPr>
          <a:xfrm>
            <a:off x="465600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9A8566B6-64FE-AD55-ED33-76FB85B3469B}"/>
              </a:ext>
            </a:extLst>
          </p:cNvPr>
          <p:cNvSpPr txBox="1">
            <a:spLocks/>
          </p:cNvSpPr>
          <p:nvPr/>
        </p:nvSpPr>
        <p:spPr>
          <a:xfrm>
            <a:off x="8294730" y="216534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Fab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7FE2E0C-E01A-95BA-A4BE-F40B577564F8}"/>
              </a:ext>
            </a:extLst>
          </p:cNvPr>
          <p:cNvSpPr/>
          <p:nvPr/>
        </p:nvSpPr>
        <p:spPr>
          <a:xfrm>
            <a:off x="8294730" y="1989219"/>
            <a:ext cx="2880000" cy="7200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Mask Fabrication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75C86A1-77A7-B20B-E17A-1F0AD6E95388}"/>
              </a:ext>
            </a:extLst>
          </p:cNvPr>
          <p:cNvSpPr/>
          <p:nvPr/>
        </p:nvSpPr>
        <p:spPr>
          <a:xfrm>
            <a:off x="1017270" y="5921465"/>
            <a:ext cx="2880000" cy="720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Pull req to OpenSUSI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9DC928F-17E9-B539-415B-5562DBF6DA2E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>
            <a:off x="245727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2843A3C-F116-9046-0E01-9D58B7A9222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2457270" y="2709219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26DB089-C247-7ABB-D5CE-986D8B707E5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457270" y="3692281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01B583-897E-4637-C2C9-0F8E46AE7508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2457270" y="4675343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3E8A211-961D-C7EE-4A79-EA1854A63241}"/>
              </a:ext>
            </a:extLst>
          </p:cNvPr>
          <p:cNvCxnSpPr>
            <a:cxnSpLocks/>
            <a:stCxn id="9" idx="2"/>
            <a:endCxn id="17" idx="0"/>
          </p:cNvCxnSpPr>
          <p:nvPr/>
        </p:nvCxnSpPr>
        <p:spPr>
          <a:xfrm>
            <a:off x="2457270" y="5658405"/>
            <a:ext cx="0" cy="26306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DD7C67-DE6C-08E0-CD0C-A9506D87FCC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6096000" y="2014157"/>
            <a:ext cx="0" cy="335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3B5D0B0-E48A-C399-3976-20D4C0965EBA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6096000" y="3357219"/>
            <a:ext cx="0" cy="335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6A6E84EE-08E6-90EE-7190-E934A38B4B73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9734730" y="1726157"/>
            <a:ext cx="0" cy="263062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8950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002EFA-6E0D-3370-EB82-3E7B5F7CF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1548A-68F6-1E68-D225-4DB5DE2FA7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質問・確認事項</a:t>
            </a: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b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</a:br>
            <a:r>
              <a:rPr lang="en-JP" sz="32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2026/01/13</a:t>
            </a:r>
            <a:endParaRPr lang="en-JP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132665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CDC25-1030-79F6-1C10-FE05ABFF80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Box 37">
            <a:extLst>
              <a:ext uri="{FF2B5EF4-FFF2-40B4-BE49-F238E27FC236}">
                <a16:creationId xmlns:a16="http://schemas.microsoft.com/office/drawing/2014/main" id="{4AF72EFC-FBD7-1836-C7C9-C0D1D3BFF5A5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DIODE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83CF-264E-A8EC-58BF-D04A30893ADF}"/>
              </a:ext>
            </a:extLst>
          </p:cNvPr>
          <p:cNvSpPr txBox="1"/>
          <p:nvPr/>
        </p:nvSpPr>
        <p:spPr>
          <a:xfrm>
            <a:off x="578623" y="938673"/>
            <a:ext cx="112688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リファレンス・マニュアルTable I-1-1によればダイオードはP/NどちらもPM+NMインプラと記載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DP：PM+NM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DN：PM+NM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リファレンス・マニュアル図6.1/6.2にも同様の指示あるが、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リファレンス・マニュアル図6.12/6.13に(ESD)では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DP：NM</a:t>
            </a: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DN：PM</a:t>
            </a:r>
          </a:p>
          <a:p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と指示がある。本当はどちらでしょう？違う場合は、Spiceモデルを公開頂けますと幸いです。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また、ESD用NMOSのSPICEモデルも公開頂けますと幸いです。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41278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nip Same Side Corner Rectangle 1">
            <a:extLst>
              <a:ext uri="{FF2B5EF4-FFF2-40B4-BE49-F238E27FC236}">
                <a16:creationId xmlns:a16="http://schemas.microsoft.com/office/drawing/2014/main" id="{A75C1C9C-A70E-6958-A47F-EB6C50D3A40B}"/>
              </a:ext>
            </a:extLst>
          </p:cNvPr>
          <p:cNvSpPr/>
          <p:nvPr/>
        </p:nvSpPr>
        <p:spPr>
          <a:xfrm>
            <a:off x="1571158" y="1269000"/>
            <a:ext cx="1008000" cy="2160000"/>
          </a:xfrm>
          <a:prstGeom prst="snip2SameRect">
            <a:avLst>
              <a:gd name="adj1" fmla="val 36052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02A69F3-7B72-B748-C5AD-DB3ACC5719C7}"/>
              </a:ext>
            </a:extLst>
          </p:cNvPr>
          <p:cNvSpPr/>
          <p:nvPr/>
        </p:nvSpPr>
        <p:spPr>
          <a:xfrm>
            <a:off x="1856119" y="1819829"/>
            <a:ext cx="413399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>
            <a:lvl1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JP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290DC6D-1BA9-AB38-E1D2-8446AC03F074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43DA428-BCA1-FDE9-91EE-CA4D17E52931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52EEF9-D7D0-6394-1A8A-B5EE5D29382B}"/>
              </a:ext>
            </a:extLst>
          </p:cNvPr>
          <p:cNvCxnSpPr>
            <a:cxnSpLocks/>
          </p:cNvCxnSpPr>
          <p:nvPr/>
        </p:nvCxnSpPr>
        <p:spPr>
          <a:xfrm>
            <a:off x="2255158" y="1999829"/>
            <a:ext cx="324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616D74-D2DD-2E37-CAD5-BA5168F90EDB}"/>
              </a:ext>
            </a:extLst>
          </p:cNvPr>
          <p:cNvCxnSpPr>
            <a:cxnSpLocks/>
          </p:cNvCxnSpPr>
          <p:nvPr/>
        </p:nvCxnSpPr>
        <p:spPr>
          <a:xfrm>
            <a:off x="2221672" y="1268998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CD8077E-BFF2-5421-BCF8-0990D8E50590}"/>
              </a:ext>
            </a:extLst>
          </p:cNvPr>
          <p:cNvCxnSpPr>
            <a:cxnSpLocks/>
          </p:cNvCxnSpPr>
          <p:nvPr/>
        </p:nvCxnSpPr>
        <p:spPr>
          <a:xfrm>
            <a:off x="2581672" y="1268998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388464A-6BFA-8D8F-7A6C-F6C3003D2B6B}"/>
              </a:ext>
            </a:extLst>
          </p:cNvPr>
          <p:cNvCxnSpPr>
            <a:cxnSpLocks/>
          </p:cNvCxnSpPr>
          <p:nvPr/>
        </p:nvCxnSpPr>
        <p:spPr>
          <a:xfrm>
            <a:off x="2075158" y="126900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8A54684-5D37-AE6A-E073-1E1180D05D44}"/>
              </a:ext>
            </a:extLst>
          </p:cNvPr>
          <p:cNvSpPr txBox="1"/>
          <p:nvPr/>
        </p:nvSpPr>
        <p:spPr>
          <a:xfrm>
            <a:off x="2611085" y="1317640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3D340DC-8E6E-CB6D-CDC1-AC918BFB37CE}"/>
              </a:ext>
            </a:extLst>
          </p:cNvPr>
          <p:cNvSpPr txBox="1"/>
          <p:nvPr/>
        </p:nvSpPr>
        <p:spPr>
          <a:xfrm>
            <a:off x="2221672" y="1006635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3136C9-395E-4C13-AA6F-7F9CBF98E314}"/>
              </a:ext>
            </a:extLst>
          </p:cNvPr>
          <p:cNvSpPr txBox="1"/>
          <p:nvPr/>
        </p:nvSpPr>
        <p:spPr>
          <a:xfrm>
            <a:off x="2575772" y="1886234"/>
            <a:ext cx="1115761" cy="253916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0.8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FE4F03-347E-3341-C52C-D5334E5686F0}"/>
              </a:ext>
            </a:extLst>
          </p:cNvPr>
          <p:cNvSpPr txBox="1"/>
          <p:nvPr/>
        </p:nvSpPr>
        <p:spPr>
          <a:xfrm>
            <a:off x="1571158" y="3463038"/>
            <a:ext cx="1004614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M</a:t>
            </a:r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 = 2.8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BAE6CB7-5E9C-3A65-61B4-BF7A96875B6E}"/>
              </a:ext>
            </a:extLst>
          </p:cNvPr>
          <p:cNvCxnSpPr>
            <a:cxnSpLocks/>
            <a:stCxn id="18" idx="1"/>
            <a:endCxn id="18" idx="3"/>
          </p:cNvCxnSpPr>
          <p:nvPr/>
        </p:nvCxnSpPr>
        <p:spPr>
          <a:xfrm>
            <a:off x="1895158" y="199301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E2F0260-B84A-F860-43A9-15FDC8550C50}"/>
              </a:ext>
            </a:extLst>
          </p:cNvPr>
          <p:cNvSpPr txBox="1"/>
          <p:nvPr/>
        </p:nvSpPr>
        <p:spPr>
          <a:xfrm>
            <a:off x="1868852" y="2197688"/>
            <a:ext cx="525663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1.2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DEB107A-844F-58DC-6AE7-F396C2124603}"/>
              </a:ext>
            </a:extLst>
          </p:cNvPr>
          <p:cNvCxnSpPr>
            <a:cxnSpLocks/>
          </p:cNvCxnSpPr>
          <p:nvPr/>
        </p:nvCxnSpPr>
        <p:spPr>
          <a:xfrm>
            <a:off x="1808258" y="1828674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79BB489-3EAE-3206-36C8-650CC28B0F21}"/>
              </a:ext>
            </a:extLst>
          </p:cNvPr>
          <p:cNvSpPr txBox="1"/>
          <p:nvPr/>
        </p:nvSpPr>
        <p:spPr>
          <a:xfrm>
            <a:off x="1512987" y="2198443"/>
            <a:ext cx="601917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1.0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F0FCA-C5BA-BEED-5CA4-42F3C4859E45}"/>
              </a:ext>
            </a:extLst>
          </p:cNvPr>
          <p:cNvSpPr/>
          <p:nvPr/>
        </p:nvSpPr>
        <p:spPr>
          <a:xfrm>
            <a:off x="1849439" y="126824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07A06E4-6E47-6E3F-014D-7C46ADDED470}"/>
              </a:ext>
            </a:extLst>
          </p:cNvPr>
          <p:cNvSpPr/>
          <p:nvPr/>
        </p:nvSpPr>
        <p:spPr>
          <a:xfrm>
            <a:off x="2203542" y="1264025"/>
            <a:ext cx="75822" cy="55158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D99D71-881E-07EB-69B4-58BED062C983}"/>
              </a:ext>
            </a:extLst>
          </p:cNvPr>
          <p:cNvSpPr txBox="1"/>
          <p:nvPr/>
        </p:nvSpPr>
        <p:spPr>
          <a:xfrm>
            <a:off x="3133652" y="1704181"/>
            <a:ext cx="609515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RR抵抗幅2.8umの場合：</a:t>
            </a: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ERRR14: 0.8um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RRのときは可変長コンタクト</a:t>
            </a:r>
            <a:endParaRPr lang="en-US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ERRR08：１.5um</a:t>
            </a:r>
          </a:p>
          <a:p>
            <a:pPr lvl="1">
              <a:spcAft>
                <a:spcPts val="600"/>
              </a:spcAft>
            </a:pPr>
            <a:r>
              <a:rPr lang="en-US" sz="1600" dirty="0" err="1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赤枠のエリアで</a:t>
            </a: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ERR08 </a:t>
            </a:r>
            <a:r>
              <a:rPr lang="ja-JP" altLang="en-US" sz="160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がエラー</a:t>
            </a:r>
            <a:endParaRPr lang="en-US" altLang="ja-JP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endParaRPr lang="en-US" sz="1600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lvl="1">
              <a:spcAft>
                <a:spcPts val="600"/>
              </a:spcAft>
            </a:pPr>
            <a:r>
              <a:rPr lang="en-US" sz="1600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 角カットを1.0&gt;0.8に変更しては？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63F33A-AED5-2F71-877E-74DC178F8138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RR details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D98EE6-73EA-7E88-9A85-968248D763C4}"/>
              </a:ext>
            </a:extLst>
          </p:cNvPr>
          <p:cNvSpPr txBox="1"/>
          <p:nvPr/>
        </p:nvSpPr>
        <p:spPr>
          <a:xfrm>
            <a:off x="2071774" y="1442571"/>
            <a:ext cx="870770" cy="26161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r>
              <a:rPr lang="en-JP" sz="1050" dirty="0">
                <a:latin typeface="Courier New" panose="02070309020205020404" pitchFamily="49" charset="0"/>
                <a:cs typeface="Courier New" panose="02070309020205020404" pitchFamily="49" charset="0"/>
              </a:rPr>
              <a:t>1.5</a:t>
            </a:r>
          </a:p>
        </p:txBody>
      </p:sp>
    </p:spTree>
    <p:extLst>
      <p:ext uri="{BB962C8B-B14F-4D97-AF65-F5344CB8AC3E}">
        <p14:creationId xmlns:p14="http://schemas.microsoft.com/office/powerpoint/2010/main" val="29089834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56FBB-001D-781E-50FD-1734D8172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565B8506-D43D-EB80-292B-8F19DAD2E9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Design Rule for V1 = TC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F8D75C-A261-00F3-8CA0-2D945856D8C9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TCーCO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Space	ER1506/07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TCーSG	Space	ER1508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TCーL</a:t>
            </a:r>
            <a:r>
              <a:rPr lang="en-US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TC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は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L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の上にあってもよいのか？</a:t>
            </a:r>
            <a:endParaRPr lang="en-US" altLang="ja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つまり、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M1-V1-M2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を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S/D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上で繋いでも良いか？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79228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64715-6094-52D8-48DF-0CEAED1160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F2006080-95CB-AC33-FCAD-B8E5F3215E7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CSIO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3CD1B1-DAE7-F096-EE0E-DBC972C8CA41}"/>
              </a:ext>
            </a:extLst>
          </p:cNvPr>
          <p:cNvSpPr txBox="1"/>
          <p:nvPr/>
        </p:nvSpPr>
        <p:spPr>
          <a:xfrm>
            <a:off x="578623" y="938673"/>
            <a:ext cx="11268819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dirty="0"/>
              <a:t>	ERCSIO06 M1(CSIO CL) SP MUST 10.0 </a:t>
            </a:r>
            <a:r>
              <a:rPr lang="en-US" dirty="0" err="1"/>
              <a:t>i</a:t>
            </a:r>
            <a:r>
              <a:rPr lang="en-US" dirty="0"/>
              <a:t> 10.0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M1スペースが、MUST な理由は？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	DRCでチェックするべき本質的な制限は？</a:t>
            </a: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912781B5-294D-81CF-DDA3-3FF0FF9F1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5758" y="795898"/>
            <a:ext cx="4791684" cy="4514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1002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A64E-E993-3134-413B-44442E2E8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CFEAC3C4-FF98-8767-7041-F81303A81157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ESD	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AC86F92-77D4-C139-AD06-7C052F0345C8}"/>
              </a:ext>
            </a:extLst>
          </p:cNvPr>
          <p:cNvSpPr txBox="1"/>
          <p:nvPr/>
        </p:nvSpPr>
        <p:spPr>
          <a:xfrm>
            <a:off x="578623" y="938673"/>
            <a:ext cx="1126881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Wmin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Lmin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11.0/2.0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Wmax/max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の記載がない、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PMOS/NMOS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と同じ 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60.0/30.0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で良いか？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945662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72F891-F9AD-9D2F-40FC-967719E81A38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81F61CF-08EF-607E-8FE3-3E229B2CA494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418E146-DC88-0246-AF85-15566E350F11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AFA9C2-B6BF-5FFA-06F7-52BA0665F37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0F570B-09D5-E9FF-6B9A-AF5DEF0D197D}"/>
              </a:ext>
            </a:extLst>
          </p:cNvPr>
          <p:cNvSpPr txBox="1"/>
          <p:nvPr/>
        </p:nvSpPr>
        <p:spPr>
          <a:xfrm>
            <a:off x="641667" y="709131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65519D-D668-B6A5-1DF8-E7D6023CDEE0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C706FBA-666F-07AC-92F5-BFC512F3F3D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8D569EA-B9CB-FF88-DDA6-5E26B63BEBA6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EFD37B-2E77-8419-C825-5989BB7D5025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C14C82A-5C68-E6B5-A339-35C01109638B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DFA7091-F8A1-274C-3FEE-7A16353ACFA6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5749558-93B6-8F0E-C4F1-6BDC9A8CBA72}"/>
              </a:ext>
            </a:extLst>
          </p:cNvPr>
          <p:cNvCxnSpPr>
            <a:cxnSpLocks/>
          </p:cNvCxnSpPr>
          <p:nvPr/>
        </p:nvCxnSpPr>
        <p:spPr>
          <a:xfrm flipV="1">
            <a:off x="2077639" y="4464428"/>
            <a:ext cx="0" cy="10879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C7947D-45C2-9051-625F-BCBA86C05BFC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2EE9FF8-419F-5D7F-7CBA-2D20F4BD10F3}"/>
              </a:ext>
            </a:extLst>
          </p:cNvPr>
          <p:cNvCxnSpPr>
            <a:cxnSpLocks/>
          </p:cNvCxnSpPr>
          <p:nvPr/>
        </p:nvCxnSpPr>
        <p:spPr>
          <a:xfrm flipV="1">
            <a:off x="3071488" y="4649094"/>
            <a:ext cx="0" cy="9032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6FEDB65-6DE3-1750-F94C-C066CA28F881}"/>
              </a:ext>
            </a:extLst>
          </p:cNvPr>
          <p:cNvSpPr txBox="1"/>
          <p:nvPr/>
        </p:nvSpPr>
        <p:spPr>
          <a:xfrm flipH="1">
            <a:off x="2918782" y="51440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994936-5BB8-EAFA-9D9A-A31136E392B8}"/>
              </a:ext>
            </a:extLst>
          </p:cNvPr>
          <p:cNvSpPr txBox="1"/>
          <p:nvPr/>
        </p:nvSpPr>
        <p:spPr>
          <a:xfrm flipH="1">
            <a:off x="1159313" y="446442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8F6B78-9920-F39F-39B2-2A925CEC5DF4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C334F8-FC00-3AC5-C1C7-F28CE9855C3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F19493-7E33-0DC4-04AB-10C16273ECBE}"/>
              </a:ext>
            </a:extLst>
          </p:cNvPr>
          <p:cNvSpPr/>
          <p:nvPr/>
        </p:nvSpPr>
        <p:spPr>
          <a:xfrm>
            <a:off x="955002" y="1204668"/>
            <a:ext cx="3237355" cy="323477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907A270-1082-2F93-3714-46C45A152521}"/>
              </a:ext>
            </a:extLst>
          </p:cNvPr>
          <p:cNvSpPr/>
          <p:nvPr/>
        </p:nvSpPr>
        <p:spPr>
          <a:xfrm>
            <a:off x="772355" y="1010792"/>
            <a:ext cx="3599999" cy="361387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4FA937C-1D94-FACC-78C8-307E5D55AE16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PAD	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90BD06-D023-C434-F258-A4125936304E}"/>
              </a:ext>
            </a:extLst>
          </p:cNvPr>
          <p:cNvSpPr txBox="1"/>
          <p:nvPr/>
        </p:nvSpPr>
        <p:spPr>
          <a:xfrm>
            <a:off x="4838218" y="938673"/>
            <a:ext cx="6194469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リファレンス・マニュアルには、</a:t>
            </a: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b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</a:b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PADからの引き出し領域に関してのルール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	ER1803/04 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の記載があるが、引き出し線とPADの境界の定義がない。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引き出し領域のW/Lを、受け入れDRCではどのように定義していますか？</a:t>
            </a: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6079514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DDE850-3B3F-169E-658B-324133BBE9CD}"/>
              </a:ext>
            </a:extLst>
          </p:cNvPr>
          <p:cNvSpPr txBox="1"/>
          <p:nvPr/>
        </p:nvSpPr>
        <p:spPr>
          <a:xfrm>
            <a:off x="436039" y="272678"/>
            <a:ext cx="69044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800" dirty="0">
                <a:latin typeface="Meiryo" panose="020B0604030504040204" pitchFamily="34" charset="-128"/>
                <a:ea typeface="Meiryo" panose="020B0604030504040204" pitchFamily="34" charset="-128"/>
              </a:rPr>
              <a:t>MDP/DRC	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8F01EF-195C-4D2D-D5D8-B31A4CD5C06C}"/>
              </a:ext>
            </a:extLst>
          </p:cNvPr>
          <p:cNvSpPr txBox="1"/>
          <p:nvPr/>
        </p:nvSpPr>
        <p:spPr>
          <a:xfrm>
            <a:off x="529265" y="913621"/>
            <a:ext cx="11170045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000" dirty="0">
                <a:latin typeface="Meiryo" panose="020B0604030504040204" pitchFamily="34" charset="-128"/>
                <a:ea typeface="Meiryo" panose="020B0604030504040204" pitchFamily="34" charset="-128"/>
              </a:rPr>
              <a:t>GitHub/TR-1um/GDSII/</a:t>
            </a:r>
          </a:p>
          <a:p>
            <a:endParaRPr lang="en-JP" sz="20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以下のフォルダーを作りました。</a:t>
            </a:r>
            <a:endParaRPr lang="en-US" altLang="ja-JP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ja-JP" altLang="en-US">
                <a:latin typeface="Meiryo" panose="020B0604030504040204" pitchFamily="34" charset="-128"/>
                <a:ea typeface="Meiryo" panose="020B0604030504040204" pitchFamily="34" charset="-128"/>
              </a:rPr>
              <a:t> １．</a:t>
            </a:r>
            <a:r>
              <a:rPr lang="en-US" altLang="ja-JP" dirty="0">
                <a:latin typeface="Meiryo" panose="020B0604030504040204" pitchFamily="34" charset="-128"/>
                <a:ea typeface="Meiryo" panose="020B0604030504040204" pitchFamily="34" charset="-128"/>
              </a:rPr>
              <a:t>20250924_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OSS_Workshop</a:t>
            </a:r>
          </a:p>
          <a:p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２．20250924_OSS_Workshop_TR-1um</a:t>
            </a:r>
          </a:p>
          <a:p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 ３．20250924_OSS_Workshop_IP62</a:t>
            </a:r>
          </a:p>
          <a:p>
            <a:endParaRPr lang="en-US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（１）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は、９月のワークショップの最終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GDSII </a:t>
            </a:r>
          </a:p>
          <a:p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（２）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は、（１）を</a:t>
            </a: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Drawiing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 Layer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に 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Python Script 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で自動変更した</a:t>
            </a:r>
            <a:r>
              <a:rPr lang="en-US" sz="1600" dirty="0" err="1">
                <a:latin typeface="Meiryo" panose="020B0604030504040204" pitchFamily="34" charset="-128"/>
                <a:ea typeface="Meiryo" panose="020B0604030504040204" pitchFamily="34" charset="-128"/>
              </a:rPr>
              <a:t>gds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。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階層は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以外は保存されています。 </a:t>
            </a:r>
            <a:endParaRPr lang="en-US" altLang="ja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（３）は、（２）を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MDP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用の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にてフラットで</a:t>
            </a:r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IP62</a:t>
            </a:r>
            <a:r>
              <a:rPr lang="ja-JP" altLang="en-US" sz="1600">
                <a:latin typeface="Meiryo" panose="020B0604030504040204" pitchFamily="34" charset="-128"/>
                <a:ea typeface="Meiryo" panose="020B0604030504040204" pitchFamily="34" charset="-128"/>
              </a:rPr>
              <a:t>に必要なレイヤーを発生したものです。</a:t>
            </a:r>
            <a:endParaRPr lang="en-US" altLang="ja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endParaRPr lang="en-US" altLang="ja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オリジナルのIP62のDRCでは、Floating Gateのエラーがでます。</a:t>
            </a:r>
          </a:p>
          <a:p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　</a:t>
            </a:r>
            <a:r>
              <a:rPr lang="en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＞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　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ESD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で接地されているので、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Floating 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ではありません。＜　</a:t>
            </a:r>
            <a:r>
              <a:rPr lang="en-US" altLang="ja-JP" dirty="0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Floating</a:t>
            </a:r>
            <a:r>
              <a:rPr lang="ja-JP" altLang="en-US">
                <a:solidFill>
                  <a:srgbClr val="FF0000"/>
                </a:solidFill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の定義を教えてください。</a:t>
            </a:r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（３）のGDSIIのSignOff</a:t>
            </a:r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 DRC 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チェックをお願いします。</a:t>
            </a:r>
          </a:p>
          <a:p>
            <a:endParaRPr lang="en-JP" dirty="0">
              <a:latin typeface="Meiryo" panose="020B0604030504040204" pitchFamily="34" charset="-128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  <a:cs typeface="Courier New" panose="02070309020205020404" pitchFamily="49" charset="0"/>
              </a:rPr>
              <a:t>	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22861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3781</TotalTime>
  <Words>2658</Words>
  <Application>Microsoft Macintosh PowerPoint</Application>
  <PresentationFormat>Widescreen</PresentationFormat>
  <Paragraphs>1235</Paragraphs>
  <Slides>22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  <vt:lpstr>質問・確認事項  2026/01/13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48</cp:revision>
  <cp:lastPrinted>2025-12-26T07:04:29Z</cp:lastPrinted>
  <dcterms:created xsi:type="dcterms:W3CDTF">2025-11-21T00:35:17Z</dcterms:created>
  <dcterms:modified xsi:type="dcterms:W3CDTF">2026-01-14T07:21:19Z</dcterms:modified>
</cp:coreProperties>
</file>