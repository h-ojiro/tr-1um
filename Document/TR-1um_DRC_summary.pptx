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61" r:id="rId2"/>
    <p:sldId id="276" r:id="rId3"/>
    <p:sldId id="279" r:id="rId4"/>
    <p:sldId id="262" r:id="rId5"/>
    <p:sldId id="260" r:id="rId6"/>
    <p:sldId id="274" r:id="rId7"/>
    <p:sldId id="265" r:id="rId8"/>
    <p:sldId id="275" r:id="rId9"/>
    <p:sldId id="284" r:id="rId10"/>
    <p:sldId id="286" r:id="rId11"/>
    <p:sldId id="281" r:id="rId12"/>
    <p:sldId id="282" r:id="rId13"/>
    <p:sldId id="267" r:id="rId14"/>
    <p:sldId id="287" r:id="rId15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339"/>
    <p:restoredTop sz="94286"/>
  </p:normalViewPr>
  <p:slideViewPr>
    <p:cSldViewPr snapToGrid="0">
      <p:cViewPr varScale="1">
        <p:scale>
          <a:sx n="98" d="100"/>
          <a:sy n="98" d="100"/>
        </p:scale>
        <p:origin x="224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AD172-39F1-384B-B9C8-80D91A739FE8}" type="datetimeFigureOut">
              <a:rPr lang="en-JP" smtClean="0"/>
              <a:t>2026/04/13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3EBC5-4531-E144-9B33-64051A952B3E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56506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72689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144110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03664-EB18-D4B5-071D-00B4B2B24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84B4-2FE1-91EB-B1C7-E75F7C7FC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700931-E8FC-08F2-1840-A75BC4552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82D30-4710-6AD0-28DC-BF626D609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14855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A064D-B7BA-86E3-60F6-71B9742D0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4615E-E1B6-183A-2C7E-031C05449A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7E24AD-13ED-2EE9-9BAC-09AEE8F482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8410A-1DC8-B75A-0129-5D0F0B8DDA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741884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91139-0281-534D-2C2C-E986AA1D1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28882-072E-72EC-1263-D6D9C8CCD2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4A69C-7621-1E06-9A44-45787865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16FEE-4E9E-7837-04B3-6CE68E15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6D280-6EC1-6B29-0978-89CDE510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3898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C92A0-C894-8093-0B01-12970A2A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3F539-0E38-750C-DDF9-F87C47E1F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BDA5F-0C0F-5044-BA2F-B3196999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7AAFC-3B3E-664E-F5A7-90640854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8AC8B-09B5-476E-D042-64D75169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84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1381-9E3B-4D62-405F-1B5BAE7C7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F59D3-E88A-13EB-0A4E-6DB32E8B5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BDFC4-AB5F-56A3-32F3-566C4E29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2AF16-C5EE-1DDD-BC1B-47165526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6E8D9-07B2-1B7C-37C6-001FEC999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6312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8B003-9A57-56C8-D2F3-DE5AAED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85106-36F9-1F41-87F0-02CDCA0E03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C19D0E-EE45-9445-1A13-CED19B6B73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6C934-222A-CB19-F846-BDB0E43E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2026/04/13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B455C-5622-2B5F-2763-B39BA151F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AA2CBD-8001-14D7-2457-4CF2EB92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19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9BD1-F30C-37C6-B441-A4FEE67BC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74027-C8A4-CE90-7B20-D2A645521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D3CCB8-C7BB-58B4-3D87-41CB83810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DBF1-CE99-601B-BB4A-C559908E6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B98B3-B82F-DB66-B341-895BA8FA9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0AAB7E-0F8E-DEB5-601A-EFFEB680F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2026/04/13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F1C942-E9FE-C67E-053A-E2575757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A959AC-A877-0210-A3D1-48634E33A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20118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0125-F709-E1C0-D547-326BFAFE5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F730DB-ECEB-879C-F7E7-78648481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2026/04/13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DA30FE-E41C-5479-DA0D-1150C98A7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2F7BB-A296-89C1-A455-701424C2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65336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30271E-2ED3-E368-A801-383D9608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2026/04/13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935DD-E053-B0A8-ADB5-602A24FD8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5DD3E-CC91-4965-ACA8-A21EF6F6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0003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19417-7B5C-6376-DEE6-9063865C3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B588-B60C-783A-7CB3-39DAC943A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5FFCA2-C2A9-94A3-2013-47E07F9BD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5C8B-1BBE-3317-C509-F70F38EEA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2026/04/13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1DBEC3-7EFE-F6DC-4552-5B07875DC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36F4A-3FF4-3997-2256-0BBF782D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512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1713-781C-1A57-2177-176BEE072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3E7D5-0C70-486F-C458-174C3860BB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41B210-0095-FC7E-E093-BFBA493F11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3275A4-552C-DDAB-1451-3864FAC55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2026/04/13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E6103-2F3D-E176-3885-13641359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5C6E5-AC99-2EB4-BD2C-5E29CEF06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73970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8931-C5F1-E8E2-BEDB-1F44787D4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C88CB-2A10-20A0-0E5E-72501D886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86653-E4B3-DEA5-6F08-C35A4CEF6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13807-A49A-6411-A223-25862B20A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21492-2781-76D2-B501-A145538D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86822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01A375-EDDA-1EC7-B2F8-58DF3F4CD8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4AA73-0AE2-D135-F010-3836C30ACF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4BA30-AD0B-CF71-B213-F3FE5E9A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58892-905B-FA38-D371-E1D23765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87A41-EB9D-B521-A4E0-F676445F0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92209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40A38D-0D72-43A4-5A7C-4BF804019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56EA93-8766-105D-C328-655573897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B7B09-43BF-B784-20BD-1438BBDDE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519AE6-31FA-0744-9E3B-7C0574DED9C6}" type="datetimeFigureOut">
              <a:rPr lang="en-JP" smtClean="0"/>
              <a:t>2026/04/13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079C-CF1B-E8D3-B947-81C132732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EAF88-9B28-02A9-1BE1-9712C15D5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7830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B1A43-4858-8351-B5A3-52B1EEA05E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Rules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12272-103F-4063-9379-B1638CB5B2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</a:t>
            </a:r>
            <a:r>
              <a:rPr lang="en-JP" dirty="0"/>
              <a:t>or Drawing Layers</a:t>
            </a:r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2026/04/13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43465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B1CAD5-7C02-3A9E-7B28-142B416C926E}"/>
              </a:ext>
            </a:extLst>
          </p:cNvPr>
          <p:cNvSpPr txBox="1"/>
          <p:nvPr/>
        </p:nvSpPr>
        <p:spPr>
          <a:xfrm>
            <a:off x="3081992" y="58755"/>
            <a:ext cx="60280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>
                <a:latin typeface="HGMaruGothicMPRO" panose="020F0600000000000000" pitchFamily="34" charset="-128"/>
                <a:ea typeface="HGMaruGothicMPRO" panose="020F0600000000000000" pitchFamily="34" charset="-128"/>
              </a:rPr>
              <a:t>Drawing Layer Table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7002D7-C769-7778-AD81-39024131F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3019" y="520420"/>
            <a:ext cx="6165961" cy="6118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237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555544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555544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3036144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976001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3036144" y="1294040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976001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E77C5B0E-0284-F194-9C18-41A3A8EA0C1E}"/>
              </a:ext>
            </a:extLst>
          </p:cNvPr>
          <p:cNvSpPr txBox="1"/>
          <p:nvPr/>
        </p:nvSpPr>
        <p:spPr>
          <a:xfrm>
            <a:off x="7740000" y="3499011"/>
            <a:ext cx="3641679" cy="24406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Function:</a:t>
            </a: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Width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Space min/max (L1=L2)</a:t>
            </a:r>
          </a:p>
          <a:p>
            <a:pPr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Separate L2 min/max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Emin/max:	L1 Enclosed L2 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Enclosing L2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ECmin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MOS Endcap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min</a:t>
            </a:r>
            <a:endParaRPr lang="en-US" sz="1200" b="1" i="0" u="none" strike="noStrike" dirty="0">
              <a:solidFill>
                <a:schemeClr val="dk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L1 </a:t>
            </a: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Windth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equal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Space equal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Donut:	L1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lang="en-US" sz="1200" b="1" i="0" u="none" strike="noStrike" baseline="0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Souuounded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by L2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None:	Not</a:t>
            </a:r>
            <a:r>
              <a:rPr lang="en-US" sz="1200" b="1" baseline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Exist</a:t>
            </a:r>
            <a:endParaRPr lang="en-US" sz="1200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4459889" y="779233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4385816" y="768285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4729889" y="1049233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393BAF9D-9324-5714-5D40-7F46C009A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8449271"/>
              </p:ext>
            </p:extLst>
          </p:nvPr>
        </p:nvGraphicFramePr>
        <p:xfrm>
          <a:off x="7740000" y="540000"/>
          <a:ext cx="4271999" cy="25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394337561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54560338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55962511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82863869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01159174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16436857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442629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2069336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154287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AA+GC+GR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134183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CO.Z3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549774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136311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9298318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578504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5412347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Exist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26717096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4837311" y="1148565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740000" y="5989382"/>
            <a:ext cx="4116711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PE</a:t>
            </a:r>
          </a:p>
        </p:txBody>
      </p:sp>
    </p:spTree>
    <p:extLst>
      <p:ext uri="{BB962C8B-B14F-4D97-AF65-F5344CB8AC3E}">
        <p14:creationId xmlns:p14="http://schemas.microsoft.com/office/powerpoint/2010/main" val="1107444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31ACE4B-7D1A-8304-A0B2-5F725A6741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217644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675201804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573199671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05312228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742548007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253275338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421918098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430073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92567214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8177395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345807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825242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WN.S4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71077594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WN.S5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8337558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WN.S6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2221464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629182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0721529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315720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5088705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9136174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337771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14050921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4383275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78915412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0684950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8312967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80115151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8326373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714948" y="5016437"/>
            <a:ext cx="4116711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overlapped AR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overlapped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in WN(C)</a:t>
            </a:r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4888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4573010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4598017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AFFB2A9-461E-4DF6-0B97-9C7679CF28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0221330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391212256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927161900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45905246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1428038921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161838585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638228789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5073265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0850911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7400638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01935776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8276977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1727928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1442913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2006404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520166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7554311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80850709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3885582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614529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6816799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1115380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600067830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0990134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116266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937580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9152435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23464383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714948" y="5016437"/>
            <a:ext cx="4116711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WN(M)：WN overlapped AN/AP</a:t>
            </a:r>
          </a:p>
        </p:txBody>
      </p:sp>
    </p:spTree>
    <p:extLst>
      <p:ext uri="{BB962C8B-B14F-4D97-AF65-F5344CB8AC3E}">
        <p14:creationId xmlns:p14="http://schemas.microsoft.com/office/powerpoint/2010/main" val="4131296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33782" y="25458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9030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870364" y="2580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83265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089" y="4373554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30495" y="428467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219030" y="40761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5164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>
            <a:off x="2776518" y="137547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7714948" y="4502871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AP(D)：AP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GC(G)：GC for PMOS/NMOS </a:t>
            </a: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2E0D861B-C7F1-B396-112B-65F3BB5FC0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558862"/>
              </p:ext>
            </p:extLst>
          </p:nvPr>
        </p:nvGraphicFramePr>
        <p:xfrm>
          <a:off x="7575288" y="540000"/>
          <a:ext cx="4320000" cy="3159570"/>
        </p:xfrm>
        <a:graphic>
          <a:graphicData uri="http://schemas.openxmlformats.org/drawingml/2006/table">
            <a:tbl>
              <a:tblPr/>
              <a:tblGrid>
                <a:gridCol w="659368">
                  <a:extLst>
                    <a:ext uri="{9D8B030D-6E8A-4147-A177-3AD203B41FA5}">
                      <a16:colId xmlns:a16="http://schemas.microsoft.com/office/drawing/2014/main" val="1292417694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423552872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2428791688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93572615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121613437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664786051"/>
                    </a:ext>
                  </a:extLst>
                </a:gridCol>
              </a:tblGrid>
              <a:tr h="21063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Rule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L1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L2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Func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MIN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MAX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371366"/>
                  </a:ext>
                </a:extLst>
              </a:tr>
              <a:tr h="21063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GC.W1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GC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Wmin/max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1.0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30.0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3527085"/>
                  </a:ext>
                </a:extLst>
              </a:tr>
              <a:tr h="21063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GC.S1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GC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GC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Smin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1.2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0432772"/>
                  </a:ext>
                </a:extLst>
              </a:tr>
              <a:tr h="21063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GC.AP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GC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AP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Smin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0.4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4575409"/>
                  </a:ext>
                </a:extLst>
              </a:tr>
              <a:tr h="21063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GC.AN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GC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AN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Smin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0.4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3510997"/>
                  </a:ext>
                </a:extLst>
              </a:tr>
              <a:tr h="21063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GC.EP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PMOS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GC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ECmin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1.2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3999332"/>
                  </a:ext>
                </a:extLst>
              </a:tr>
              <a:tr h="21063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GC.EN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NMOS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GC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ECmin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1.2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9950970"/>
                  </a:ext>
                </a:extLst>
              </a:tr>
              <a:tr h="21063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CO.W1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CO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Wmin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1.0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7688681"/>
                  </a:ext>
                </a:extLst>
              </a:tr>
              <a:tr h="21063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CO.S1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CO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CO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Smin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1.0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5170770"/>
                  </a:ext>
                </a:extLst>
              </a:tr>
              <a:tr h="21063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CO.WD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CO(D)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Wfix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1.2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3907459"/>
                  </a:ext>
                </a:extLst>
              </a:tr>
              <a:tr h="21063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CO.AD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CO(D)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AP+AN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Emin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1.2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927646"/>
                  </a:ext>
                </a:extLst>
              </a:tr>
              <a:tr h="21063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CO.AP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CO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AP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Emin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0.8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6160402"/>
                  </a:ext>
                </a:extLst>
              </a:tr>
              <a:tr h="21063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CO.AN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CO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AN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Emin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0.8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9430926"/>
                  </a:ext>
                </a:extLst>
              </a:tr>
              <a:tr h="21063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CO.GG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CO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GC(G)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Smin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1.0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188428"/>
                  </a:ext>
                </a:extLst>
              </a:tr>
              <a:tr h="21063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CO.GC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CO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GC+GR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Emin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0.8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</a:t>
                      </a:r>
                    </a:p>
                  </a:txBody>
                  <a:tcPr marL="7600" marR="7600" marT="76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1068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8011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989469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12432" y="169540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3516355" y="4909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48171" y="491887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GC(AR)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968361" y="1655011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24679" y="1651640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535450" y="612285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5080097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510399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67515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839529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Resistor(AR/RS)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5707" y="4416795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886801" y="391098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817465" y="43814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205423" y="44447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749707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2997036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31FA3B5-CC66-1495-DF32-68B8C099B007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5411439" y="965607"/>
            <a:ext cx="6384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375834" y="24048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12" y="1513038"/>
            <a:ext cx="203200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48" y="2259086"/>
            <a:ext cx="2032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</p:cNvCxnSpPr>
          <p:nvPr/>
        </p:nvCxnSpPr>
        <p:spPr>
          <a:xfrm flipV="1">
            <a:off x="2041412" y="1719460"/>
            <a:ext cx="0" cy="5396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356424" y="19798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</p:cNvCxnSpPr>
          <p:nvPr/>
        </p:nvCxnSpPr>
        <p:spPr>
          <a:xfrm>
            <a:off x="4757277" y="5375815"/>
            <a:ext cx="14731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5080097" y="966361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6" y="1723495"/>
            <a:ext cx="1043898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65253" y="4685204"/>
            <a:ext cx="1465221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476302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CL(RR)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5817465" y="6128886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9AF928A-1630-FD4A-9ED9-F2CF8F0E45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5638947"/>
              </p:ext>
            </p:extLst>
          </p:nvPr>
        </p:nvGraphicFramePr>
        <p:xfrm>
          <a:off x="7740000" y="540000"/>
          <a:ext cx="4272001" cy="43513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6406548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4246942815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1727879732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53013889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83978763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1489835841"/>
                    </a:ext>
                  </a:extLst>
                </a:gridCol>
              </a:tblGrid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77094234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6282648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3284985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4290051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71905862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13880259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04797862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39028836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TieDown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6284914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63958796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45869014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86259642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0842110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97.5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06200613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AR(T)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54431712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6448757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2572244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66716782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2.9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81097640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422892089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689896" y="4900465"/>
            <a:ext cx="4116711" cy="181588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GC(AR)：GC in WN(R)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AR effective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AR effective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CO(RR)：CO short side on AR 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CL(RR)：CO large side on AR 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AR(T) ：AR top fringe  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AR(S) ：AR side fringe 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：CO on AC</a:t>
            </a:r>
          </a:p>
        </p:txBody>
      </p:sp>
    </p:spTree>
    <p:extLst>
      <p:ext uri="{BB962C8B-B14F-4D97-AF65-F5344CB8AC3E}">
        <p14:creationId xmlns:p14="http://schemas.microsoft.com/office/powerpoint/2010/main" val="241056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6003403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238778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446513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776744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816494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819640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762954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816494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900894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906494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865733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916010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651606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1205029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416493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366131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905734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921846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508885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366839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366839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389253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713978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5193539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5058871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5143836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845253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917267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557701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393424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926009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588535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541862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852304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361862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361862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366839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226525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281869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741843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879178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546839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852304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879178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412008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441962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417335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573025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618901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843483" y="33170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M1.S2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789370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964848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800571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786874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1056874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236874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681463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386694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1088290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853343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851628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2026036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886101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935520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377292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575322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747013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582736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548875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M1(C)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527158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CO(S)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517586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580036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CO(C)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FAE2DEC-5C0D-8C41-D89B-43D4DC19B1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6329291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03070121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110875928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99387338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33970106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31639359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996599407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9652985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006852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327737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4021881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1690323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9948482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891404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509400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806263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68007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267598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3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6488293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26813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366528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68969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6428413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689896" y="4900465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M1(C)：M1 in WN(C)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CO(C)：CO on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CO(S)：CO small contact 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CO(L)：CO large contact (only on AR)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M1(W)：Wide M1</a:t>
            </a:r>
          </a:p>
        </p:txBody>
      </p:sp>
    </p:spTree>
    <p:extLst>
      <p:ext uri="{BB962C8B-B14F-4D97-AF65-F5344CB8AC3E}">
        <p14:creationId xmlns:p14="http://schemas.microsoft.com/office/powerpoint/2010/main" val="3676206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716755" y="3961905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716754" y="1145009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1223486" y="1137104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903420" y="906178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1230133" y="4029504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585237" y="91722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1232322" y="535124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866860" y="246981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869733" y="4352280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970468" y="41449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4092470" y="3166356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4124628" y="324767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1216375" y="118508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993705" y="22478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3119544" y="2434336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695158" y="130458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4239650" y="422324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945095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945095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695856" y="185373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945836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3032690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3052693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3010333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3169102" y="24640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913537" y="155798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4284839" y="1145696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4272449" y="173037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4239650" y="3942749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3126548" y="5158000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952099" y="504911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952099" y="449500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952840" y="4580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3039694" y="469437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3059697" y="47891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3017337" y="42931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3164369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2307527" y="18833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703848" y="4588023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2324065" y="46176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797310" y="505666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797310" y="450255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4106402" y="5146663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522180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695158" y="524662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913537" y="550002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797169" y="230825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797169" y="175414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4105163" y="2417780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529994" y="24718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591116" y="456702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646852" y="5779497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952969" y="3961361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6175847" y="3961361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6171913" y="394274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6023033" y="37515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974359" y="1152686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6197237" y="1152686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6193303" y="11340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6044423" y="942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324" y="3319036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5151024" y="2833929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5143210" y="3498231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5143210" y="2935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5151024" y="37380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graphicFrame>
        <p:nvGraphicFramePr>
          <p:cNvPr id="158" name="Table 157">
            <a:extLst>
              <a:ext uri="{FF2B5EF4-FFF2-40B4-BE49-F238E27FC236}">
                <a16:creationId xmlns:a16="http://schemas.microsoft.com/office/drawing/2014/main" id="{ABB6F537-08FF-1578-E941-0A4D6B57E7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6772033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722434179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91131578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2956577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57238071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84662512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615169393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595223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2361029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941378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2119235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3935559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719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656136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91924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07216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841909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4868944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7886053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1.6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61464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465747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09581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403449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861851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857384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5408899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857384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5408899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7689896" y="4900465"/>
            <a:ext cx="4116711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APE/ANE)：AP/AN on ESD)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CO(E)：CO on ESD</a:t>
            </a:r>
          </a:p>
        </p:txBody>
      </p:sp>
    </p:spTree>
    <p:extLst>
      <p:ext uri="{BB962C8B-B14F-4D97-AF65-F5344CB8AC3E}">
        <p14:creationId xmlns:p14="http://schemas.microsoft.com/office/powerpoint/2010/main" val="1684468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V1.PO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759754" y="5562923"/>
            <a:ext cx="2030019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5000063" y="5894688"/>
            <a:ext cx="162818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AA/GC/M1/M2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2464235-F513-783D-B93D-065C950EAF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2745455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5356543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204026684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90728555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11520378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42155246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67848829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0562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811869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00149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73816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711453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689529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736666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683465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624566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064761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464821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78112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6038825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047183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15644037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7A4003A-A1D2-F209-7FDF-33B3634F79E2}"/>
              </a:ext>
            </a:extLst>
          </p:cNvPr>
          <p:cNvSpPr/>
          <p:nvPr/>
        </p:nvSpPr>
        <p:spPr>
          <a:xfrm>
            <a:off x="7739997" y="3371784"/>
            <a:ext cx="4271999" cy="965581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87724-CD53-0075-DE41-1DC130C3649D}"/>
              </a:ext>
            </a:extLst>
          </p:cNvPr>
          <p:cNvSpPr txBox="1"/>
          <p:nvPr/>
        </p:nvSpPr>
        <p:spPr>
          <a:xfrm>
            <a:off x="7739997" y="4464963"/>
            <a:ext cx="37764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** Not yet implemented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7689896" y="4900465"/>
            <a:ext cx="4116711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on PO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on PO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PO</a:t>
            </a:r>
          </a:p>
        </p:txBody>
      </p:sp>
    </p:spTree>
    <p:extLst>
      <p:ext uri="{BB962C8B-B14F-4D97-AF65-F5344CB8AC3E}">
        <p14:creationId xmlns:p14="http://schemas.microsoft.com/office/powerpoint/2010/main" val="250963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4844-C498-1DE1-4178-1C1040C2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B7C6-43BD-5D9E-BC99-6DA397B33F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 cotrol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4D77EB-91E4-10B0-04D3-F66C1B6ACA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DRC integrity</a:t>
            </a:r>
          </a:p>
        </p:txBody>
      </p:sp>
    </p:spTree>
    <p:extLst>
      <p:ext uri="{BB962C8B-B14F-4D97-AF65-F5344CB8AC3E}">
        <p14:creationId xmlns:p14="http://schemas.microsoft.com/office/powerpoint/2010/main" val="1598947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2D2F1-1985-61F4-0F1E-EF9B7ACC6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7110-496F-7E1D-B358-3742B68B9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E6C62-EB78-433E-1995-8034891ABB14}"/>
              </a:ext>
            </a:extLst>
          </p:cNvPr>
          <p:cNvSpPr/>
          <p:nvPr/>
        </p:nvSpPr>
        <p:spPr>
          <a:xfrm>
            <a:off x="1017270" y="211735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un.drc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28B05C-8FF1-5C33-9B52-C413103D6C87}"/>
              </a:ext>
            </a:extLst>
          </p:cNvPr>
          <p:cNvSpPr/>
          <p:nvPr/>
        </p:nvSpPr>
        <p:spPr>
          <a:xfrm>
            <a:off x="4656000" y="211735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DR_Table.xls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6DBF1D-7306-BD2B-B3C1-33CCEACCD2BA}"/>
              </a:ext>
            </a:extLst>
          </p:cNvPr>
          <p:cNvSpPr/>
          <p:nvPr/>
        </p:nvSpPr>
        <p:spPr>
          <a:xfrm>
            <a:off x="8294730" y="4083479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ython/*.py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5A9E5-16F6-913B-46E9-9D90104C209D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Document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321AB7-B52F-09C6-96C9-80845A34EA6C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PCell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B82E25-6B7C-B836-3AAA-D0DDA27708C4}"/>
              </a:ext>
            </a:extLst>
          </p:cNvPr>
          <p:cNvSpPr/>
          <p:nvPr/>
        </p:nvSpPr>
        <p:spPr>
          <a:xfrm>
            <a:off x="8294730" y="211735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rules_def.py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E10375-C9E9-1CAA-07D6-5EC7BB2C1BEB}"/>
              </a:ext>
            </a:extLst>
          </p:cNvPr>
          <p:cNvSpPr/>
          <p:nvPr/>
        </p:nvSpPr>
        <p:spPr>
          <a:xfrm>
            <a:off x="4656000" y="408347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DRC_summary.ppt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7D1B3-1251-D132-52B5-EBE748665ECB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3EFCBE-D074-4075-93E8-565A6E3EDC35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07E5FC1-5D89-47B1-DC5A-246F36E2D8F9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>
            <a:off x="753600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30826E-56BD-9DC6-C97E-79894A436942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>
            <a:off x="973473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26E5A8-EEA7-5065-00E3-DA4506C90A7C}"/>
              </a:ext>
            </a:extLst>
          </p:cNvPr>
          <p:cNvSpPr txBox="1"/>
          <p:nvPr/>
        </p:nvSpPr>
        <p:spPr>
          <a:xfrm>
            <a:off x="304256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DR_csv2drc.py</a:t>
            </a:r>
            <a:endParaRPr lang="en-JP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7DCBCC-8085-98CC-EFD2-D94B9EF9CA8D}"/>
              </a:ext>
            </a:extLst>
          </p:cNvPr>
          <p:cNvSpPr txBox="1"/>
          <p:nvPr/>
        </p:nvSpPr>
        <p:spPr>
          <a:xfrm>
            <a:off x="668129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DR_csv2py.py</a:t>
            </a:r>
            <a:endParaRPr lang="en-JP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DC2E3E-FBEC-891E-CE35-C6E727A2D81C}"/>
              </a:ext>
            </a:extLst>
          </p:cNvPr>
          <p:cNvSpPr txBox="1"/>
          <p:nvPr/>
        </p:nvSpPr>
        <p:spPr>
          <a:xfrm>
            <a:off x="9734729" y="3651262"/>
            <a:ext cx="219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</a:t>
            </a:r>
            <a:endParaRPr lang="en-JP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619AD35-08B0-1890-3143-5D08336326E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609600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E437580-702D-D3D8-B2F5-5DBC886FAFA1}"/>
              </a:ext>
            </a:extLst>
          </p:cNvPr>
          <p:cNvSpPr txBox="1"/>
          <p:nvPr/>
        </p:nvSpPr>
        <p:spPr>
          <a:xfrm>
            <a:off x="6096000" y="3651262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 &amp; Paste</a:t>
            </a:r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04889-2D32-35F1-24E9-D396E0DA3D0E}"/>
              </a:ext>
            </a:extLst>
          </p:cNvPr>
          <p:cNvSpPr txBox="1"/>
          <p:nvPr/>
        </p:nvSpPr>
        <p:spPr>
          <a:xfrm>
            <a:off x="1110904" y="5082052"/>
            <a:ext cx="9970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ALL Critical Dimension parameters are referenced by ‘XX.YY’ rule’s name.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4141735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to Tapeout Process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79EF0-31C2-3AD3-7AE9-8B34891617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Mask Data Preparation</a:t>
            </a:r>
          </a:p>
        </p:txBody>
      </p:sp>
    </p:spTree>
    <p:extLst>
      <p:ext uri="{BB962C8B-B14F-4D97-AF65-F5344CB8AC3E}">
        <p14:creationId xmlns:p14="http://schemas.microsoft.com/office/powerpoint/2010/main" val="4260508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17259-552C-3180-3540-60F7E8245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5DF39-F2C2-2FEB-2BE5-D5D6121E9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Designer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4AA82B-A490-40B4-05CD-4EE3C06E31F1}"/>
              </a:ext>
            </a:extLst>
          </p:cNvPr>
          <p:cNvSpPr/>
          <p:nvPr/>
        </p:nvSpPr>
        <p:spPr>
          <a:xfrm>
            <a:off x="1017270" y="173994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5568D-836E-D877-0D9F-6466810C28A2}"/>
              </a:ext>
            </a:extLst>
          </p:cNvPr>
          <p:cNvSpPr/>
          <p:nvPr/>
        </p:nvSpPr>
        <p:spPr>
          <a:xfrm>
            <a:off x="4656000" y="173994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TR-1um_MPW_template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D114ED-2293-781C-3F8A-561207A25E58}"/>
              </a:ext>
            </a:extLst>
          </p:cNvPr>
          <p:cNvSpPr/>
          <p:nvPr/>
        </p:nvSpPr>
        <p:spPr>
          <a:xfrm>
            <a:off x="8294719" y="3069000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Fabrication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37E85A9D-A38B-87BA-D3E0-43269A950F47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OpenSUSI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80E8DB8-70DC-BD20-4DBA-C6A7ED26607E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Tokai Rika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FA2BC1-3219-5E7D-88A3-77D281C0CB39}"/>
              </a:ext>
            </a:extLst>
          </p:cNvPr>
          <p:cNvSpPr/>
          <p:nvPr/>
        </p:nvSpPr>
        <p:spPr>
          <a:xfrm>
            <a:off x="8294730" y="173994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Signoff DRC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9FD970-D02A-615A-8F71-E2C983A1A322}"/>
              </a:ext>
            </a:extLst>
          </p:cNvPr>
          <p:cNvSpPr/>
          <p:nvPr/>
        </p:nvSpPr>
        <p:spPr>
          <a:xfrm>
            <a:off x="4656000" y="3069000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1B32AD-6A5C-EA99-0C4C-728736D809BF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5B79423-B8E8-1CE3-D211-0108852A7C13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09994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D7A44FF-FAA3-85C4-5ADB-A7056682C489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 flipH="1">
            <a:off x="9734719" y="2459945"/>
            <a:ext cx="1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4CA85C0-8A08-034A-7DC6-8D7ACBD1DCE1}"/>
              </a:ext>
            </a:extLst>
          </p:cNvPr>
          <p:cNvSpPr txBox="1"/>
          <p:nvPr/>
        </p:nvSpPr>
        <p:spPr>
          <a:xfrm>
            <a:off x="3816629" y="1673549"/>
            <a:ext cx="920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[clone]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8166EC-51D1-DB01-7EB7-34BD263AFEBB}"/>
              </a:ext>
            </a:extLst>
          </p:cNvPr>
          <p:cNvSpPr/>
          <p:nvPr/>
        </p:nvSpPr>
        <p:spPr>
          <a:xfrm>
            <a:off x="1017269" y="3069000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199D88E-5E9D-9868-5FCA-8E84650D219F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flipH="1">
            <a:off x="2457269" y="2459945"/>
            <a:ext cx="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47AB19E-C6EB-DCD5-3689-C020A238D26C}"/>
              </a:ext>
            </a:extLst>
          </p:cNvPr>
          <p:cNvSpPr txBox="1"/>
          <p:nvPr/>
        </p:nvSpPr>
        <p:spPr>
          <a:xfrm>
            <a:off x="2497636" y="2485431"/>
            <a:ext cx="1399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[push]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847112A-37B7-EDC1-432A-8362E9F8247B}"/>
              </a:ext>
            </a:extLst>
          </p:cNvPr>
          <p:cNvSpPr txBox="1"/>
          <p:nvPr/>
        </p:nvSpPr>
        <p:spPr>
          <a:xfrm>
            <a:off x="1017269" y="1345127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local</a:t>
            </a:r>
            <a:endParaRPr lang="en-JP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DDF467-ABF3-5E23-D091-3D7FC688BD5A}"/>
              </a:ext>
            </a:extLst>
          </p:cNvPr>
          <p:cNvSpPr txBox="1"/>
          <p:nvPr/>
        </p:nvSpPr>
        <p:spPr>
          <a:xfrm>
            <a:off x="1017269" y="2671370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remote</a:t>
            </a:r>
            <a:endParaRPr lang="en-JP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AC639E-E5AD-2083-066A-4CAE372C567F}"/>
              </a:ext>
            </a:extLst>
          </p:cNvPr>
          <p:cNvSpPr/>
          <p:nvPr/>
        </p:nvSpPr>
        <p:spPr>
          <a:xfrm>
            <a:off x="1017269" y="5071958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66AB4FE-5CA6-5750-0A10-C4227FA5E6D5}"/>
              </a:ext>
            </a:extLst>
          </p:cNvPr>
          <p:cNvCxnSpPr>
            <a:cxnSpLocks/>
            <a:stCxn id="7" idx="2"/>
            <a:endCxn id="25" idx="0"/>
          </p:cNvCxnSpPr>
          <p:nvPr/>
        </p:nvCxnSpPr>
        <p:spPr>
          <a:xfrm>
            <a:off x="2457269" y="3789000"/>
            <a:ext cx="0" cy="12829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46BFFB3-A589-A2E1-8C67-9271DED58510}"/>
              </a:ext>
            </a:extLst>
          </p:cNvPr>
          <p:cNvSpPr txBox="1"/>
          <p:nvPr/>
        </p:nvSpPr>
        <p:spPr>
          <a:xfrm>
            <a:off x="2457268" y="3805233"/>
            <a:ext cx="1439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JP" dirty="0">
                <a:solidFill>
                  <a:srgbClr val="7030A0"/>
                </a:solidFill>
              </a:rPr>
              <a:t>Precheck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  <a:p>
            <a:r>
              <a:rPr lang="en-JP" dirty="0">
                <a:solidFill>
                  <a:srgbClr val="7030A0"/>
                </a:solidFill>
              </a:rPr>
              <a:t>MDP</a:t>
            </a:r>
          </a:p>
        </p:txBody>
      </p: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EFCABD7A-B63E-50AB-3AC6-54074772BBC8}"/>
              </a:ext>
            </a:extLst>
          </p:cNvPr>
          <p:cNvCxnSpPr>
            <a:stCxn id="25" idx="3"/>
            <a:endCxn id="3" idx="1"/>
          </p:cNvCxnSpPr>
          <p:nvPr/>
        </p:nvCxnSpPr>
        <p:spPr>
          <a:xfrm flipV="1">
            <a:off x="3897269" y="3429000"/>
            <a:ext cx="758731" cy="200295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9097FEFA-F02C-C8B3-4561-8115E0365BB3}"/>
              </a:ext>
            </a:extLst>
          </p:cNvPr>
          <p:cNvSpPr txBox="1"/>
          <p:nvPr/>
        </p:nvSpPr>
        <p:spPr>
          <a:xfrm rot="16200000">
            <a:off x="3305919" y="4209948"/>
            <a:ext cx="1572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[pull request]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A95CE3E-B1D9-4170-37B4-68006F401287}"/>
              </a:ext>
            </a:extLst>
          </p:cNvPr>
          <p:cNvSpPr/>
          <p:nvPr/>
        </p:nvSpPr>
        <p:spPr>
          <a:xfrm>
            <a:off x="4655989" y="5071957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091EC6C-87B3-8694-2F42-BDF3ADEEF6F2}"/>
              </a:ext>
            </a:extLst>
          </p:cNvPr>
          <p:cNvCxnSpPr>
            <a:cxnSpLocks/>
            <a:stCxn id="3" idx="2"/>
            <a:endCxn id="41" idx="0"/>
          </p:cNvCxnSpPr>
          <p:nvPr/>
        </p:nvCxnSpPr>
        <p:spPr>
          <a:xfrm flipH="1">
            <a:off x="6095989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583F9DD-57FA-9973-D5A3-AE25E0219F83}"/>
              </a:ext>
            </a:extLst>
          </p:cNvPr>
          <p:cNvSpPr txBox="1"/>
          <p:nvPr/>
        </p:nvSpPr>
        <p:spPr>
          <a:xfrm>
            <a:off x="6095988" y="3805232"/>
            <a:ext cx="18193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US" dirty="0">
                <a:solidFill>
                  <a:srgbClr val="7030A0"/>
                </a:solidFill>
              </a:rPr>
              <a:t>Logo insertion</a:t>
            </a:r>
          </a:p>
          <a:p>
            <a:r>
              <a:rPr lang="en-US" dirty="0">
                <a:solidFill>
                  <a:srgbClr val="7030A0"/>
                </a:solidFill>
              </a:rPr>
              <a:t>A</a:t>
            </a:r>
            <a:r>
              <a:rPr lang="en-JP" dirty="0">
                <a:solidFill>
                  <a:srgbClr val="7030A0"/>
                </a:solidFill>
              </a:rPr>
              <a:t>ggregation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</p:txBody>
      </p: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CE47584A-6F67-AAD6-9A68-C6AD9724D102}"/>
              </a:ext>
            </a:extLst>
          </p:cNvPr>
          <p:cNvCxnSpPr>
            <a:cxnSpLocks/>
            <a:stCxn id="41" idx="3"/>
            <a:endCxn id="16" idx="1"/>
          </p:cNvCxnSpPr>
          <p:nvPr/>
        </p:nvCxnSpPr>
        <p:spPr>
          <a:xfrm flipV="1">
            <a:off x="7535989" y="2099945"/>
            <a:ext cx="758741" cy="333201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021E3D2D-BDC5-B5D4-3260-69541486B4B8}"/>
              </a:ext>
            </a:extLst>
          </p:cNvPr>
          <p:cNvSpPr txBox="1"/>
          <p:nvPr/>
        </p:nvSpPr>
        <p:spPr>
          <a:xfrm rot="16200000">
            <a:off x="6695949" y="3581880"/>
            <a:ext cx="2828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Download GDSII</a:t>
            </a:r>
            <a:endParaRPr lang="en-JP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7913D4C-DD54-8361-259A-E0796D8641B1}"/>
              </a:ext>
            </a:extLst>
          </p:cNvPr>
          <p:cNvSpPr/>
          <p:nvPr/>
        </p:nvSpPr>
        <p:spPr>
          <a:xfrm>
            <a:off x="8294708" y="5071957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PCM TEST</a:t>
            </a:r>
          </a:p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Wafer out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BFBF409F-30BC-D138-9B83-AF435E4BE68E}"/>
              </a:ext>
            </a:extLst>
          </p:cNvPr>
          <p:cNvCxnSpPr>
            <a:cxnSpLocks/>
            <a:stCxn id="13" idx="2"/>
            <a:endCxn id="52" idx="0"/>
          </p:cNvCxnSpPr>
          <p:nvPr/>
        </p:nvCxnSpPr>
        <p:spPr>
          <a:xfrm flipH="1">
            <a:off x="9734708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9789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3813</TotalTime>
  <Words>2432</Words>
  <Application>Microsoft Macintosh PowerPoint</Application>
  <PresentationFormat>Widescreen</PresentationFormat>
  <Paragraphs>1175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HGMaruGothicMPRO</vt:lpstr>
      <vt:lpstr>Meiryo</vt:lpstr>
      <vt:lpstr>Aptos</vt:lpstr>
      <vt:lpstr>Aptos Display</vt:lpstr>
      <vt:lpstr>Arial</vt:lpstr>
      <vt:lpstr>Courier New</vt:lpstr>
      <vt:lpstr>Office Theme</vt:lpstr>
      <vt:lpstr>Design Rules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Design Rule cotrol</vt:lpstr>
      <vt:lpstr>DRC</vt:lpstr>
      <vt:lpstr>Design to Tapeout Process</vt:lpstr>
      <vt:lpstr>Designer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 OKAMURA/岡村淳一</dc:creator>
  <cp:lastModifiedBy>Jun OKAMURA/岡村淳一</cp:lastModifiedBy>
  <cp:revision>56</cp:revision>
  <cp:lastPrinted>2025-12-26T07:04:29Z</cp:lastPrinted>
  <dcterms:created xsi:type="dcterms:W3CDTF">2025-11-21T00:35:17Z</dcterms:created>
  <dcterms:modified xsi:type="dcterms:W3CDTF">2026-04-13T05:08:49Z</dcterms:modified>
</cp:coreProperties>
</file>