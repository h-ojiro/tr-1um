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9" r:id="rId2"/>
    <p:sldId id="277" r:id="rId3"/>
    <p:sldId id="278" r:id="rId4"/>
    <p:sldId id="280" r:id="rId5"/>
    <p:sldId id="287" r:id="rId6"/>
    <p:sldId id="285" r:id="rId7"/>
    <p:sldId id="288" r:id="rId8"/>
    <p:sldId id="289" r:id="rId9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019"/>
    <p:restoredTop sz="94286"/>
  </p:normalViewPr>
  <p:slideViewPr>
    <p:cSldViewPr snapToGrid="0">
      <p:cViewPr>
        <p:scale>
          <a:sx n="92" d="100"/>
          <a:sy n="92" d="100"/>
        </p:scale>
        <p:origin x="584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7AD172-39F1-384B-B9C8-80D91A739FE8}" type="datetimeFigureOut">
              <a:rPr lang="en-JP" smtClean="0"/>
              <a:t>2026/01/23</a:t>
            </a:fld>
            <a:endParaRPr lang="en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3EBC5-4531-E144-9B33-64051A952B3E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556506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91139-0281-534D-2C2C-E986AA1D14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228882-072E-72EC-1263-D6D9C8CCD2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4A69C-7621-1E06-9A44-457878650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19AE6-31FA-0744-9E3B-7C0574DED9C6}" type="datetimeFigureOut">
              <a:rPr lang="en-JP" smtClean="0"/>
              <a:t>2026/01/23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16FEE-4E9E-7837-04B3-6CE68E151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6D280-6EC1-6B29-0978-89CDE5100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E9C3-0513-6C44-93FA-15855FD03DF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63898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92A0-C894-8093-0B01-12970A2A7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3F539-0E38-750C-DDF9-F87C47E1F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BDA5F-0C0F-5044-BA2F-B31969993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19AE6-31FA-0744-9E3B-7C0574DED9C6}" type="datetimeFigureOut">
              <a:rPr lang="en-JP" smtClean="0"/>
              <a:t>2026/01/23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7AAFC-3B3E-664E-F5A7-90640854B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8AC8B-09B5-476E-D042-64D751692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E9C3-0513-6C44-93FA-15855FD03DF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25084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01381-9E3B-4D62-405F-1B5BAE7C7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F59D3-E88A-13EB-0A4E-6DB32E8B5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BDFC4-AB5F-56A3-32F3-566C4E299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19AE6-31FA-0744-9E3B-7C0574DED9C6}" type="datetimeFigureOut">
              <a:rPr lang="en-JP" smtClean="0"/>
              <a:t>2026/01/23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2AF16-C5EE-1DDD-BC1B-47165526C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6E8D9-07B2-1B7C-37C6-001FEC999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E9C3-0513-6C44-93FA-15855FD03DF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663123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8B003-9A57-56C8-D2F3-DE5AAED8B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85106-36F9-1F41-87F0-02CDCA0E03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C19D0E-EE45-9445-1A13-CED19B6B73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A6C934-222A-CB19-F846-BDB0E43E4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19AE6-31FA-0744-9E3B-7C0574DED9C6}" type="datetimeFigureOut">
              <a:rPr lang="en-JP" smtClean="0"/>
              <a:t>2026/01/23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B455C-5622-2B5F-2763-B39BA151F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AA2CBD-8001-14D7-2457-4CF2EB925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E9C3-0513-6C44-93FA-15855FD03DF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970193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9BD1-F30C-37C6-B441-A4FEE67BC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74027-C8A4-CE90-7B20-D2A645521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3CCB8-C7BB-58B4-3D87-41CB83810D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7EDBF1-CE99-601B-BB4A-C559908E61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8B98B3-B82F-DB66-B341-895BA8FA98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0AAB7E-0F8E-DEB5-601A-EFFEB680F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19AE6-31FA-0744-9E3B-7C0574DED9C6}" type="datetimeFigureOut">
              <a:rPr lang="en-JP" smtClean="0"/>
              <a:t>2026/01/23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F1C942-E9FE-C67E-053A-E25757571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A959AC-A877-0210-A3D1-48634E33A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E9C3-0513-6C44-93FA-15855FD03DF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120118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90125-F709-E1C0-D547-326BFAFE5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F730DB-ECEB-879C-F7E7-786484811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19AE6-31FA-0744-9E3B-7C0574DED9C6}" type="datetimeFigureOut">
              <a:rPr lang="en-JP" smtClean="0"/>
              <a:t>2026/01/23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DA30FE-E41C-5479-DA0D-1150C98A7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62F7BB-A296-89C1-A455-701424C29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E9C3-0513-6C44-93FA-15855FD03DF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065336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30271E-2ED3-E368-A801-383D96085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19AE6-31FA-0744-9E3B-7C0574DED9C6}" type="datetimeFigureOut">
              <a:rPr lang="en-JP" smtClean="0"/>
              <a:t>2026/01/23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D935DD-E053-B0A8-ADB5-602A24FD8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5DD3E-CC91-4965-ACA8-A21EF6F6F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E9C3-0513-6C44-93FA-15855FD03DF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700035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19417-7B5C-6376-DEE6-9063865C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0B588-B60C-783A-7CB3-39DAC943A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5FFCA2-C2A9-94A3-2013-47E07F9BD5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55C8B-1BBE-3317-C509-F70F38EEA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19AE6-31FA-0744-9E3B-7C0574DED9C6}" type="datetimeFigureOut">
              <a:rPr lang="en-JP" smtClean="0"/>
              <a:t>2026/01/23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1DBEC3-7EFE-F6DC-4552-5B07875DC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36F4A-3FF4-3997-2256-0BBF782DC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E9C3-0513-6C44-93FA-15855FD03DF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35120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91713-781C-1A57-2177-176BEE072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3E7D5-0C70-486F-C458-174C3860BB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41B210-0095-FC7E-E093-BFBA493F1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275A4-552C-DDAB-1451-3864FAC55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19AE6-31FA-0744-9E3B-7C0574DED9C6}" type="datetimeFigureOut">
              <a:rPr lang="en-JP" smtClean="0"/>
              <a:t>2026/01/23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E6103-2F3D-E176-3885-13641359F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95C6E5-AC99-2EB4-BD2C-5E29CEF06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E9C3-0513-6C44-93FA-15855FD03DF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273970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8931-C5F1-E8E2-BEDB-1F44787D4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BC88CB-2A10-20A0-0E5E-72501D886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86653-E4B3-DEA5-6F08-C35A4CEF6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19AE6-31FA-0744-9E3B-7C0574DED9C6}" type="datetimeFigureOut">
              <a:rPr lang="en-JP" smtClean="0"/>
              <a:t>2026/01/23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13807-A49A-6411-A223-25862B20A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21492-2781-76D2-B501-A145538DD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E9C3-0513-6C44-93FA-15855FD03DF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086822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01A375-EDDA-1EC7-B2F8-58DF3F4CD8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E4AA73-0AE2-D135-F010-3836C30ACF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4BA30-AD0B-CF71-B213-F3FE5E9A5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19AE6-31FA-0744-9E3B-7C0574DED9C6}" type="datetimeFigureOut">
              <a:rPr lang="en-JP" smtClean="0"/>
              <a:t>2026/01/23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58892-905B-FA38-D371-E1D23765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87A41-EB9D-B521-A4E0-F676445F0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E9C3-0513-6C44-93FA-15855FD03DF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992209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40A38D-0D72-43A4-5A7C-4BF804019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56EA93-8766-105D-C328-655573897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B7B09-43BF-B784-20BD-1438BBDDE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519AE6-31FA-0744-9E3B-7C0574DED9C6}" type="datetimeFigureOut">
              <a:rPr lang="en-JP" smtClean="0"/>
              <a:t>2026/01/23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B079C-CF1B-E8D3-B947-81C1327323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EAF88-9B28-02A9-1BE1-9712C15D54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FAE9C3-0513-6C44-93FA-15855FD03DF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47830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02EFA-6E0D-3370-EB82-3E7B5F7CF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1548A-68F6-1E68-D225-4DB5DE2FA7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r>
              <a:rPr lang="en-JP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質問・確認事項</a:t>
            </a:r>
            <a:br>
              <a:rPr lang="en-JP" dirty="0">
                <a:latin typeface="HGMaruGothicMPRO" panose="020F0600000000000000" pitchFamily="34" charset="-128"/>
                <a:ea typeface="HGMaruGothicMPRO" panose="020F0600000000000000" pitchFamily="34" charset="-128"/>
              </a:rPr>
            </a:br>
            <a:br>
              <a:rPr lang="en-JP" dirty="0">
                <a:latin typeface="HGMaruGothicMPRO" panose="020F0600000000000000" pitchFamily="34" charset="-128"/>
                <a:ea typeface="HGMaruGothicMPRO" panose="020F0600000000000000" pitchFamily="34" charset="-128"/>
              </a:rPr>
            </a:br>
            <a:r>
              <a:rPr lang="en-JP" sz="3200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2026/01/13</a:t>
            </a:r>
            <a:endParaRPr lang="en-JP" dirty="0">
              <a:latin typeface="HGMaruGothicMPRO" panose="020F0600000000000000" pitchFamily="34" charset="-128"/>
              <a:ea typeface="HGMaruGothicMPRO" panose="020F06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13266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CDC25-1030-79F6-1C10-FE05ABFF8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4AF72EFC-FBD7-1836-C7C9-C0D1D3BFF5A5}"/>
              </a:ext>
            </a:extLst>
          </p:cNvPr>
          <p:cNvSpPr txBox="1"/>
          <p:nvPr/>
        </p:nvSpPr>
        <p:spPr>
          <a:xfrm>
            <a:off x="436039" y="272678"/>
            <a:ext cx="6904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800" dirty="0">
                <a:latin typeface="Meiryo" panose="020B0604030504040204" pitchFamily="34" charset="-128"/>
                <a:ea typeface="Meiryo" panose="020B0604030504040204" pitchFamily="34" charset="-128"/>
              </a:rPr>
              <a:t>DIODE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5383CF-264E-A8EC-58BF-D04A30893ADF}"/>
              </a:ext>
            </a:extLst>
          </p:cNvPr>
          <p:cNvSpPr txBox="1"/>
          <p:nvPr/>
        </p:nvSpPr>
        <p:spPr>
          <a:xfrm>
            <a:off x="578623" y="938673"/>
            <a:ext cx="1126881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リファレンス・マニュアルTable I-1-1によればダイオードはP/NどちらもPM+NMインプラと記載</a:t>
            </a:r>
          </a:p>
          <a:p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JP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	DP：PM+NM</a:t>
            </a:r>
          </a:p>
          <a:p>
            <a:r>
              <a:rPr lang="en-JP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	DN：PM+NM</a:t>
            </a:r>
          </a:p>
          <a:p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リファレンス・マニュアル図6.1/6.2にも同様の指示あるが、</a:t>
            </a:r>
            <a:b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b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リファレンス・マニュアル図6.12/6.13に(ESD)では</a:t>
            </a:r>
          </a:p>
          <a:p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JP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	DP：NM</a:t>
            </a:r>
          </a:p>
          <a:p>
            <a:r>
              <a:rPr lang="en-JP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	DN：PM</a:t>
            </a:r>
          </a:p>
          <a:p>
            <a:b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JP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と指示がある。本当はどちらでしょう？違う場合は、Spiceモデルを公開頂けますと幸いです。</a:t>
            </a:r>
          </a:p>
          <a:p>
            <a:endParaRPr lang="en-JP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JP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また、ESD用NMOSのSPICEモデルも公開頂けますと幸いです。</a:t>
            </a:r>
          </a:p>
          <a:p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41278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nip Same Side Corner Rectangle 1">
            <a:extLst>
              <a:ext uri="{FF2B5EF4-FFF2-40B4-BE49-F238E27FC236}">
                <a16:creationId xmlns:a16="http://schemas.microsoft.com/office/drawing/2014/main" id="{A75C1C9C-A70E-6958-A47F-EB6C50D3A40B}"/>
              </a:ext>
            </a:extLst>
          </p:cNvPr>
          <p:cNvSpPr/>
          <p:nvPr/>
        </p:nvSpPr>
        <p:spPr>
          <a:xfrm>
            <a:off x="1571158" y="1269000"/>
            <a:ext cx="1008000" cy="2160000"/>
          </a:xfrm>
          <a:prstGeom prst="snip2SameRect">
            <a:avLst>
              <a:gd name="adj1" fmla="val 36052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JP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2A69F3-7B72-B748-C5AD-DB3ACC5719C7}"/>
              </a:ext>
            </a:extLst>
          </p:cNvPr>
          <p:cNvSpPr/>
          <p:nvPr/>
        </p:nvSpPr>
        <p:spPr>
          <a:xfrm>
            <a:off x="1856119" y="1819829"/>
            <a:ext cx="413399" cy="36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lvl1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JP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290DC6D-1BA9-AB38-E1D2-8446AC03F074}"/>
              </a:ext>
            </a:extLst>
          </p:cNvPr>
          <p:cNvCxnSpPr>
            <a:cxnSpLocks/>
            <a:stCxn id="18" idx="1"/>
            <a:endCxn id="18" idx="3"/>
          </p:cNvCxnSpPr>
          <p:nvPr/>
        </p:nvCxnSpPr>
        <p:spPr>
          <a:xfrm>
            <a:off x="1895158" y="1993010"/>
            <a:ext cx="36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43DA428-BCA1-FDE9-91EE-CA4D17E52931}"/>
              </a:ext>
            </a:extLst>
          </p:cNvPr>
          <p:cNvCxnSpPr>
            <a:cxnSpLocks/>
            <a:stCxn id="18" idx="1"/>
            <a:endCxn id="18" idx="3"/>
          </p:cNvCxnSpPr>
          <p:nvPr/>
        </p:nvCxnSpPr>
        <p:spPr>
          <a:xfrm>
            <a:off x="1895158" y="1993010"/>
            <a:ext cx="36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D52EEF9-D7D0-6394-1A8A-B5EE5D29382B}"/>
              </a:ext>
            </a:extLst>
          </p:cNvPr>
          <p:cNvCxnSpPr>
            <a:cxnSpLocks/>
          </p:cNvCxnSpPr>
          <p:nvPr/>
        </p:nvCxnSpPr>
        <p:spPr>
          <a:xfrm>
            <a:off x="2255158" y="1999829"/>
            <a:ext cx="324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E616D74-D2DD-2E37-CAD5-BA5168F90EDB}"/>
              </a:ext>
            </a:extLst>
          </p:cNvPr>
          <p:cNvCxnSpPr>
            <a:cxnSpLocks/>
          </p:cNvCxnSpPr>
          <p:nvPr/>
        </p:nvCxnSpPr>
        <p:spPr>
          <a:xfrm>
            <a:off x="2221672" y="1268998"/>
            <a:ext cx="36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CD8077E-BFF2-5421-BCF8-0990D8E50590}"/>
              </a:ext>
            </a:extLst>
          </p:cNvPr>
          <p:cNvCxnSpPr>
            <a:cxnSpLocks/>
          </p:cNvCxnSpPr>
          <p:nvPr/>
        </p:nvCxnSpPr>
        <p:spPr>
          <a:xfrm>
            <a:off x="2581672" y="1268998"/>
            <a:ext cx="0" cy="3589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388464A-6BFA-8D8F-7A6C-F6C3003D2B6B}"/>
              </a:ext>
            </a:extLst>
          </p:cNvPr>
          <p:cNvCxnSpPr>
            <a:cxnSpLocks/>
          </p:cNvCxnSpPr>
          <p:nvPr/>
        </p:nvCxnSpPr>
        <p:spPr>
          <a:xfrm>
            <a:off x="2075158" y="1269000"/>
            <a:ext cx="0" cy="540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8A54684-5D37-AE6A-E073-1E1180D05D44}"/>
              </a:ext>
            </a:extLst>
          </p:cNvPr>
          <p:cNvSpPr txBox="1"/>
          <p:nvPr/>
        </p:nvSpPr>
        <p:spPr>
          <a:xfrm>
            <a:off x="2611085" y="1317640"/>
            <a:ext cx="870770" cy="26161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lang="en-JP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1.0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D340DC-8E6E-CB6D-CDC1-AC918BFB37CE}"/>
              </a:ext>
            </a:extLst>
          </p:cNvPr>
          <p:cNvSpPr txBox="1"/>
          <p:nvPr/>
        </p:nvSpPr>
        <p:spPr>
          <a:xfrm>
            <a:off x="2221672" y="1006635"/>
            <a:ext cx="870770" cy="26161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lang="en-JP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1.0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3136C9-395E-4C13-AA6F-7F9CBF98E314}"/>
              </a:ext>
            </a:extLst>
          </p:cNvPr>
          <p:cNvSpPr txBox="1"/>
          <p:nvPr/>
        </p:nvSpPr>
        <p:spPr>
          <a:xfrm>
            <a:off x="2575772" y="1886234"/>
            <a:ext cx="1115761" cy="253916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lang="en-JP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0.8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FE4F03-347E-3341-C52C-D5334E5686F0}"/>
              </a:ext>
            </a:extLst>
          </p:cNvPr>
          <p:cNvSpPr txBox="1"/>
          <p:nvPr/>
        </p:nvSpPr>
        <p:spPr>
          <a:xfrm>
            <a:off x="1571158" y="3463038"/>
            <a:ext cx="1004614" cy="26161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JP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= 2.8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BAE6CB7-5E9C-3A65-61B4-BF7A96875B6E}"/>
              </a:ext>
            </a:extLst>
          </p:cNvPr>
          <p:cNvCxnSpPr>
            <a:cxnSpLocks/>
            <a:stCxn id="18" idx="1"/>
            <a:endCxn id="18" idx="3"/>
          </p:cNvCxnSpPr>
          <p:nvPr/>
        </p:nvCxnSpPr>
        <p:spPr>
          <a:xfrm>
            <a:off x="1895158" y="1993010"/>
            <a:ext cx="36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E2F0260-B84A-F860-43A9-15FDC8550C50}"/>
              </a:ext>
            </a:extLst>
          </p:cNvPr>
          <p:cNvSpPr txBox="1"/>
          <p:nvPr/>
        </p:nvSpPr>
        <p:spPr>
          <a:xfrm>
            <a:off x="1868852" y="2197688"/>
            <a:ext cx="525663" cy="26161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lang="en-JP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1.2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DEB107A-844F-58DC-6AE7-F396C2124603}"/>
              </a:ext>
            </a:extLst>
          </p:cNvPr>
          <p:cNvCxnSpPr>
            <a:cxnSpLocks/>
          </p:cNvCxnSpPr>
          <p:nvPr/>
        </p:nvCxnSpPr>
        <p:spPr>
          <a:xfrm>
            <a:off x="1808258" y="1828674"/>
            <a:ext cx="0" cy="3589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79BB489-3EAE-3206-36C8-650CC28B0F21}"/>
              </a:ext>
            </a:extLst>
          </p:cNvPr>
          <p:cNvSpPr txBox="1"/>
          <p:nvPr/>
        </p:nvSpPr>
        <p:spPr>
          <a:xfrm>
            <a:off x="1512987" y="2198443"/>
            <a:ext cx="601917" cy="26161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lang="en-JP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1.0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F0FCA-C5BA-BEED-5CA4-42F3C4859E45}"/>
              </a:ext>
            </a:extLst>
          </p:cNvPr>
          <p:cNvSpPr/>
          <p:nvPr/>
        </p:nvSpPr>
        <p:spPr>
          <a:xfrm>
            <a:off x="1849439" y="1268245"/>
            <a:ext cx="75822" cy="5515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7A06E4-6E47-6E3F-014D-7C46ADDED470}"/>
              </a:ext>
            </a:extLst>
          </p:cNvPr>
          <p:cNvSpPr/>
          <p:nvPr/>
        </p:nvSpPr>
        <p:spPr>
          <a:xfrm>
            <a:off x="2203542" y="1264025"/>
            <a:ext cx="75822" cy="5515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D99D71-881E-07EB-69B4-58BED062C983}"/>
              </a:ext>
            </a:extLst>
          </p:cNvPr>
          <p:cNvSpPr txBox="1"/>
          <p:nvPr/>
        </p:nvSpPr>
        <p:spPr>
          <a:xfrm>
            <a:off x="3133652" y="1704181"/>
            <a:ext cx="609515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RR抵抗幅2.8umの場合：</a:t>
            </a:r>
          </a:p>
          <a:p>
            <a:pPr lvl="1">
              <a:spcAft>
                <a:spcPts val="600"/>
              </a:spcAft>
            </a:pPr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ERRR14: 0.8um</a:t>
            </a:r>
          </a:p>
          <a:p>
            <a:pPr lvl="1">
              <a:spcAft>
                <a:spcPts val="600"/>
              </a:spcAft>
            </a:pPr>
            <a:r>
              <a:rPr lang="en-US" sz="1600" dirty="0" err="1">
                <a:latin typeface="Meiryo" panose="020B0604030504040204" pitchFamily="34" charset="-128"/>
                <a:ea typeface="Meiryo" panose="020B0604030504040204" pitchFamily="34" charset="-128"/>
              </a:rPr>
              <a:t>RRのときは可変長コンタクト</a:t>
            </a:r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lvl="1">
              <a:spcAft>
                <a:spcPts val="600"/>
              </a:spcAft>
            </a:pPr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ERRR08：１.5um</a:t>
            </a:r>
          </a:p>
          <a:p>
            <a:pPr lvl="1">
              <a:spcAft>
                <a:spcPts val="600"/>
              </a:spcAft>
            </a:pPr>
            <a:r>
              <a:rPr lang="en-US" sz="1600" dirty="0" err="1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赤枠のエリアで</a:t>
            </a:r>
            <a:r>
              <a:rPr lang="en-US" sz="1600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ERR08 </a:t>
            </a:r>
            <a:r>
              <a:rPr lang="ja-JP" altLang="en-US" sz="160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がエラー</a:t>
            </a:r>
            <a:endParaRPr lang="en-US" altLang="ja-JP" sz="1600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lvl="1">
              <a:spcAft>
                <a:spcPts val="600"/>
              </a:spcAft>
            </a:pPr>
            <a:endParaRPr lang="en-US" sz="1600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lvl="1">
              <a:spcAft>
                <a:spcPts val="600"/>
              </a:spcAft>
            </a:pPr>
            <a:r>
              <a:rPr lang="en-US" sz="1600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* 角カットを1.0&gt;0.8に変更しては？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63F33A-AED5-2F71-877E-74DC178F8138}"/>
              </a:ext>
            </a:extLst>
          </p:cNvPr>
          <p:cNvSpPr txBox="1"/>
          <p:nvPr/>
        </p:nvSpPr>
        <p:spPr>
          <a:xfrm>
            <a:off x="436039" y="272678"/>
            <a:ext cx="6904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800" dirty="0">
                <a:latin typeface="Meiryo" panose="020B0604030504040204" pitchFamily="34" charset="-128"/>
                <a:ea typeface="Meiryo" panose="020B0604030504040204" pitchFamily="34" charset="-128"/>
              </a:rPr>
              <a:t>Design Rule for RR details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D98EE6-73EA-7E88-9A85-968248D763C4}"/>
              </a:ext>
            </a:extLst>
          </p:cNvPr>
          <p:cNvSpPr txBox="1"/>
          <p:nvPr/>
        </p:nvSpPr>
        <p:spPr>
          <a:xfrm>
            <a:off x="2071774" y="1442571"/>
            <a:ext cx="870770" cy="26161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lang="en-JP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1.5</a:t>
            </a:r>
          </a:p>
        </p:txBody>
      </p:sp>
    </p:spTree>
    <p:extLst>
      <p:ext uri="{BB962C8B-B14F-4D97-AF65-F5344CB8AC3E}">
        <p14:creationId xmlns:p14="http://schemas.microsoft.com/office/powerpoint/2010/main" val="2908983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56FBB-001D-781E-50FD-1734D8172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565B8506-D43D-EB80-292B-8F19DAD2E97D}"/>
              </a:ext>
            </a:extLst>
          </p:cNvPr>
          <p:cNvSpPr txBox="1"/>
          <p:nvPr/>
        </p:nvSpPr>
        <p:spPr>
          <a:xfrm>
            <a:off x="436039" y="272678"/>
            <a:ext cx="6904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800" dirty="0">
                <a:latin typeface="Meiryo" panose="020B0604030504040204" pitchFamily="34" charset="-128"/>
                <a:ea typeface="Meiryo" panose="020B0604030504040204" pitchFamily="34" charset="-128"/>
              </a:rPr>
              <a:t>Design Rule for V1 = TC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F8D75C-A261-00F3-8CA0-2D945856D8C9}"/>
              </a:ext>
            </a:extLst>
          </p:cNvPr>
          <p:cNvSpPr txBox="1"/>
          <p:nvPr/>
        </p:nvSpPr>
        <p:spPr>
          <a:xfrm>
            <a:off x="578623" y="938673"/>
            <a:ext cx="1126881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リファレンス・マニュアルには、</a:t>
            </a:r>
            <a:b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b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	TCーCO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Space	ER1506/07</a:t>
            </a:r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	TCーSG	Space	ER1508</a:t>
            </a:r>
            <a:b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の記載があるが、</a:t>
            </a:r>
          </a:p>
          <a:p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	</a:t>
            </a:r>
            <a:r>
              <a:rPr lang="en-JP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TCーL</a:t>
            </a:r>
            <a:r>
              <a:rPr lang="en-US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ja-JP" altLang="en-US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の記載がない、</a:t>
            </a:r>
            <a:r>
              <a:rPr lang="en-US" altLang="ja-JP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TC</a:t>
            </a:r>
            <a:r>
              <a:rPr lang="ja-JP" altLang="en-US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は</a:t>
            </a:r>
            <a:r>
              <a:rPr lang="en-US" altLang="ja-JP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L</a:t>
            </a:r>
            <a:r>
              <a:rPr lang="ja-JP" altLang="en-US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の上にあってもよいのか？</a:t>
            </a:r>
            <a:endParaRPr lang="en-US" altLang="ja-JP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altLang="ja-JP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	</a:t>
            </a:r>
            <a:r>
              <a:rPr lang="ja-JP" altLang="en-US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つまり、</a:t>
            </a:r>
            <a:r>
              <a:rPr lang="en-US" altLang="ja-JP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M1-V1-M2 </a:t>
            </a:r>
            <a:r>
              <a:rPr lang="ja-JP" altLang="en-US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を</a:t>
            </a:r>
            <a:r>
              <a:rPr lang="en-US" altLang="ja-JP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S/D </a:t>
            </a:r>
            <a:r>
              <a:rPr lang="ja-JP" altLang="en-US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の</a:t>
            </a:r>
            <a:r>
              <a:rPr lang="en-US" altLang="ja-JP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ja-JP" altLang="en-US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上で繋いでも良いか？</a:t>
            </a:r>
            <a:endParaRPr lang="en-JP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en-JP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JP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	</a:t>
            </a:r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79228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64715-6094-52D8-48DF-0CEAED116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F2006080-95CB-AC33-FCAD-B8E5F3215E7D}"/>
              </a:ext>
            </a:extLst>
          </p:cNvPr>
          <p:cNvSpPr txBox="1"/>
          <p:nvPr/>
        </p:nvSpPr>
        <p:spPr>
          <a:xfrm>
            <a:off x="436039" y="272678"/>
            <a:ext cx="6904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800" dirty="0">
                <a:latin typeface="Meiryo" panose="020B0604030504040204" pitchFamily="34" charset="-128"/>
                <a:ea typeface="Meiryo" panose="020B0604030504040204" pitchFamily="34" charset="-128"/>
              </a:rPr>
              <a:t>CSIO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3CD1B1-DAE7-F096-EE0E-DBC972C8CA41}"/>
              </a:ext>
            </a:extLst>
          </p:cNvPr>
          <p:cNvSpPr txBox="1"/>
          <p:nvPr/>
        </p:nvSpPr>
        <p:spPr>
          <a:xfrm>
            <a:off x="578623" y="938673"/>
            <a:ext cx="1126881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リファレンス・マニュアルには、</a:t>
            </a:r>
            <a:b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dirty="0"/>
              <a:t>	ERCSIO06 M1(CSIO CL) SP MUST 10.0 </a:t>
            </a:r>
            <a:r>
              <a:rPr lang="en-US" dirty="0" err="1"/>
              <a:t>i</a:t>
            </a:r>
            <a:r>
              <a:rPr lang="en-US" dirty="0"/>
              <a:t> 10.0</a:t>
            </a:r>
          </a:p>
          <a:p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の記載があるが、</a:t>
            </a:r>
          </a:p>
          <a:p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	</a:t>
            </a:r>
            <a:r>
              <a:rPr lang="en-JP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M1スペースが、MUST な理由は？</a:t>
            </a:r>
          </a:p>
          <a:p>
            <a:endParaRPr lang="en-JP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JP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	DRCでチェックするべき本質的な制限は？</a:t>
            </a:r>
          </a:p>
          <a:p>
            <a:endParaRPr lang="en-JP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JP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	</a:t>
            </a:r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912781B5-294D-81CF-DDA3-3FF0FF9F1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5758" y="795898"/>
            <a:ext cx="4791684" cy="451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100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1A64E-E993-3134-413B-44442E2E8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CFEAC3C4-FF98-8767-7041-F81303A81157}"/>
              </a:ext>
            </a:extLst>
          </p:cNvPr>
          <p:cNvSpPr txBox="1"/>
          <p:nvPr/>
        </p:nvSpPr>
        <p:spPr>
          <a:xfrm>
            <a:off x="436039" y="272678"/>
            <a:ext cx="6904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800" dirty="0">
                <a:latin typeface="Meiryo" panose="020B0604030504040204" pitchFamily="34" charset="-128"/>
                <a:ea typeface="Meiryo" panose="020B0604030504040204" pitchFamily="34" charset="-128"/>
              </a:rPr>
              <a:t>ESD	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C86F92-77D4-C139-AD06-7C052F0345C8}"/>
              </a:ext>
            </a:extLst>
          </p:cNvPr>
          <p:cNvSpPr txBox="1"/>
          <p:nvPr/>
        </p:nvSpPr>
        <p:spPr>
          <a:xfrm>
            <a:off x="578623" y="938673"/>
            <a:ext cx="1126881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リファレンス・マニュアルには、</a:t>
            </a:r>
            <a:b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b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	</a:t>
            </a:r>
            <a:r>
              <a:rPr lang="en-US" dirty="0" err="1">
                <a:latin typeface="Meiryo" panose="020B0604030504040204" pitchFamily="34" charset="-128"/>
                <a:ea typeface="Meiryo" panose="020B0604030504040204" pitchFamily="34" charset="-128"/>
              </a:rPr>
              <a:t>Wmin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/</a:t>
            </a:r>
            <a:r>
              <a:rPr lang="en-US" dirty="0" err="1">
                <a:latin typeface="Meiryo" panose="020B0604030504040204" pitchFamily="34" charset="-128"/>
                <a:ea typeface="Meiryo" panose="020B0604030504040204" pitchFamily="34" charset="-128"/>
              </a:rPr>
              <a:t>Lmin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	11.0/2.0	</a:t>
            </a:r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の記載があるが、</a:t>
            </a:r>
          </a:p>
          <a:p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	</a:t>
            </a:r>
            <a:r>
              <a:rPr lang="en-JP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Wmax/max </a:t>
            </a:r>
            <a:r>
              <a:rPr lang="ja-JP" altLang="en-US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の記載がない、</a:t>
            </a:r>
            <a:r>
              <a:rPr lang="en-US" altLang="ja-JP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PMOS/NMOS </a:t>
            </a:r>
            <a:r>
              <a:rPr lang="ja-JP" altLang="en-US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と同じ </a:t>
            </a:r>
            <a:r>
              <a:rPr lang="en-US" altLang="ja-JP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60.0/30.0 </a:t>
            </a:r>
            <a:r>
              <a:rPr lang="ja-JP" altLang="en-US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で良いか？</a:t>
            </a:r>
            <a:endParaRPr lang="en-JP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en-JP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JP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	</a:t>
            </a:r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566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72F891-F9AD-9D2F-40FC-967719E81A38}"/>
              </a:ext>
            </a:extLst>
          </p:cNvPr>
          <p:cNvSpPr/>
          <p:nvPr/>
        </p:nvSpPr>
        <p:spPr>
          <a:xfrm rot="16200000">
            <a:off x="775004" y="1024670"/>
            <a:ext cx="3600000" cy="36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1F61CF-08EF-607E-8FE3-3E229B2CA494}"/>
              </a:ext>
            </a:extLst>
          </p:cNvPr>
          <p:cNvSpPr/>
          <p:nvPr/>
        </p:nvSpPr>
        <p:spPr>
          <a:xfrm rot="16200000">
            <a:off x="955004" y="1204670"/>
            <a:ext cx="3240000" cy="324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18E146-DC88-0246-AF85-15566E350F11}"/>
              </a:ext>
            </a:extLst>
          </p:cNvPr>
          <p:cNvSpPr/>
          <p:nvPr/>
        </p:nvSpPr>
        <p:spPr>
          <a:xfrm rot="16200000">
            <a:off x="1315004" y="1564670"/>
            <a:ext cx="2520000" cy="252000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AFA9C2-B6BF-5FFA-06F7-52BA0665F37C}"/>
              </a:ext>
            </a:extLst>
          </p:cNvPr>
          <p:cNvSpPr txBox="1"/>
          <p:nvPr/>
        </p:nvSpPr>
        <p:spPr>
          <a:xfrm>
            <a:off x="920813" y="1274600"/>
            <a:ext cx="103529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M2(P)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0F570B-09D5-E9FF-6B9A-AF5DEF0D197D}"/>
              </a:ext>
            </a:extLst>
          </p:cNvPr>
          <p:cNvSpPr txBox="1"/>
          <p:nvPr/>
        </p:nvSpPr>
        <p:spPr>
          <a:xfrm>
            <a:off x="641667" y="709131"/>
            <a:ext cx="103529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M1(P)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65519D-D668-B6A5-1DF8-E7D6023CDEE0}"/>
              </a:ext>
            </a:extLst>
          </p:cNvPr>
          <p:cNvSpPr txBox="1"/>
          <p:nvPr/>
        </p:nvSpPr>
        <p:spPr>
          <a:xfrm>
            <a:off x="1330493" y="1672021"/>
            <a:ext cx="6256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PO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706FBA-666F-07AC-92F5-BFC512F3F3DE}"/>
              </a:ext>
            </a:extLst>
          </p:cNvPr>
          <p:cNvSpPr/>
          <p:nvPr/>
        </p:nvSpPr>
        <p:spPr>
          <a:xfrm rot="16200000">
            <a:off x="1082143" y="4317529"/>
            <a:ext cx="1083346" cy="133762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8D569EA-B9CB-FF88-DDA6-5E26B63BEBA6}"/>
              </a:ext>
            </a:extLst>
          </p:cNvPr>
          <p:cNvSpPr/>
          <p:nvPr/>
        </p:nvSpPr>
        <p:spPr>
          <a:xfrm rot="16200000">
            <a:off x="756169" y="5592204"/>
            <a:ext cx="1083346" cy="6856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4EFD37B-2E77-8419-C825-5989BB7D5025}"/>
              </a:ext>
            </a:extLst>
          </p:cNvPr>
          <p:cNvSpPr/>
          <p:nvPr/>
        </p:nvSpPr>
        <p:spPr>
          <a:xfrm rot="16200000">
            <a:off x="3026583" y="4353734"/>
            <a:ext cx="999218" cy="133762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C14C82A-5C68-E6B5-A339-35C01109638B}"/>
              </a:ext>
            </a:extLst>
          </p:cNvPr>
          <p:cNvSpPr/>
          <p:nvPr/>
        </p:nvSpPr>
        <p:spPr>
          <a:xfrm rot="16200000">
            <a:off x="3307845" y="5592204"/>
            <a:ext cx="1083346" cy="6856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DFA7091-F8A1-274C-3FEE-7A16353ACFA6}"/>
              </a:ext>
            </a:extLst>
          </p:cNvPr>
          <p:cNvCxnSpPr>
            <a:cxnSpLocks/>
          </p:cNvCxnSpPr>
          <p:nvPr/>
        </p:nvCxnSpPr>
        <p:spPr>
          <a:xfrm flipH="1">
            <a:off x="935440" y="4874033"/>
            <a:ext cx="135719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5749558-93B6-8F0E-C4F1-6BDC9A8CBA72}"/>
              </a:ext>
            </a:extLst>
          </p:cNvPr>
          <p:cNvCxnSpPr>
            <a:cxnSpLocks/>
          </p:cNvCxnSpPr>
          <p:nvPr/>
        </p:nvCxnSpPr>
        <p:spPr>
          <a:xfrm flipV="1">
            <a:off x="2077639" y="4464428"/>
            <a:ext cx="0" cy="108793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BC7947D-45C2-9051-625F-BCBA86C05BFC}"/>
              </a:ext>
            </a:extLst>
          </p:cNvPr>
          <p:cNvCxnSpPr>
            <a:cxnSpLocks/>
          </p:cNvCxnSpPr>
          <p:nvPr/>
        </p:nvCxnSpPr>
        <p:spPr>
          <a:xfrm flipH="1">
            <a:off x="2862793" y="4874033"/>
            <a:ext cx="135719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2EE9FF8-419F-5D7F-7CBA-2D20F4BD10F3}"/>
              </a:ext>
            </a:extLst>
          </p:cNvPr>
          <p:cNvCxnSpPr>
            <a:cxnSpLocks/>
          </p:cNvCxnSpPr>
          <p:nvPr/>
        </p:nvCxnSpPr>
        <p:spPr>
          <a:xfrm flipV="1">
            <a:off x="3071488" y="4649094"/>
            <a:ext cx="0" cy="90327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6FEDB65-6DE3-1750-F94C-C066CA28F881}"/>
              </a:ext>
            </a:extLst>
          </p:cNvPr>
          <p:cNvSpPr txBox="1"/>
          <p:nvPr/>
        </p:nvSpPr>
        <p:spPr>
          <a:xfrm flipH="1">
            <a:off x="2918782" y="5144004"/>
            <a:ext cx="99297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M1.PE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994936-5BB8-EAFA-9D9A-A31136E392B8}"/>
              </a:ext>
            </a:extLst>
          </p:cNvPr>
          <p:cNvSpPr txBox="1"/>
          <p:nvPr/>
        </p:nvSpPr>
        <p:spPr>
          <a:xfrm flipH="1">
            <a:off x="1159313" y="4464428"/>
            <a:ext cx="99297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M2.PE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8F6B78-9920-F39F-39B2-2A925CEC5DF4}"/>
              </a:ext>
            </a:extLst>
          </p:cNvPr>
          <p:cNvSpPr txBox="1"/>
          <p:nvPr/>
        </p:nvSpPr>
        <p:spPr>
          <a:xfrm flipH="1">
            <a:off x="1104364" y="4908762"/>
            <a:ext cx="99297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M2.PW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C334F8-FC00-3AC5-C1C7-F28CE9855C35}"/>
              </a:ext>
            </a:extLst>
          </p:cNvPr>
          <p:cNvSpPr txBox="1"/>
          <p:nvPr/>
        </p:nvSpPr>
        <p:spPr>
          <a:xfrm flipH="1">
            <a:off x="3115311" y="4917283"/>
            <a:ext cx="99297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M1.PW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8F19493-7E33-0DC4-04AB-10C16273ECBE}"/>
              </a:ext>
            </a:extLst>
          </p:cNvPr>
          <p:cNvSpPr/>
          <p:nvPr/>
        </p:nvSpPr>
        <p:spPr>
          <a:xfrm>
            <a:off x="955002" y="1204668"/>
            <a:ext cx="3237355" cy="323477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07A270-1082-2F93-3714-46C45A152521}"/>
              </a:ext>
            </a:extLst>
          </p:cNvPr>
          <p:cNvSpPr/>
          <p:nvPr/>
        </p:nvSpPr>
        <p:spPr>
          <a:xfrm>
            <a:off x="772355" y="1010792"/>
            <a:ext cx="3599999" cy="361387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FA937C-1D94-FACC-78C8-307E5D55AE16}"/>
              </a:ext>
            </a:extLst>
          </p:cNvPr>
          <p:cNvSpPr txBox="1"/>
          <p:nvPr/>
        </p:nvSpPr>
        <p:spPr>
          <a:xfrm>
            <a:off x="436039" y="272678"/>
            <a:ext cx="6904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800" dirty="0">
                <a:latin typeface="Meiryo" panose="020B0604030504040204" pitchFamily="34" charset="-128"/>
                <a:ea typeface="Meiryo" panose="020B0604030504040204" pitchFamily="34" charset="-128"/>
              </a:rPr>
              <a:t>PAD	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90BD06-D023-C434-F258-A4125936304E}"/>
              </a:ext>
            </a:extLst>
          </p:cNvPr>
          <p:cNvSpPr txBox="1"/>
          <p:nvPr/>
        </p:nvSpPr>
        <p:spPr>
          <a:xfrm>
            <a:off x="4838218" y="938673"/>
            <a:ext cx="619446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リファレンス・マニュアルには、</a:t>
            </a:r>
            <a:b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b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PADからの引き出し領域に関してのルール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	</a:t>
            </a:r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	ER1803/04 </a:t>
            </a:r>
          </a:p>
          <a:p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の記載があるが、引き出し線とPADの境界の定義がない。</a:t>
            </a:r>
          </a:p>
          <a:p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JP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引き出し領域のW/Lを、受け入れDRCではどのように定義していますか？</a:t>
            </a:r>
          </a:p>
          <a:p>
            <a:endParaRPr lang="en-JP" dirty="0">
              <a:latin typeface="Courier New" panose="02070309020205020404" pitchFamily="49" charset="0"/>
              <a:ea typeface="Meiryo" panose="020B0604030504040204" pitchFamily="34" charset="-128"/>
              <a:cs typeface="Courier New" panose="02070309020205020404" pitchFamily="49" charset="0"/>
            </a:endParaRPr>
          </a:p>
          <a:p>
            <a:endParaRPr lang="en-JP" dirty="0">
              <a:latin typeface="Courier New" panose="02070309020205020404" pitchFamily="49" charset="0"/>
              <a:ea typeface="Meiryo" panose="020B0604030504040204" pitchFamily="34" charset="-128"/>
              <a:cs typeface="Courier New" panose="02070309020205020404" pitchFamily="49" charset="0"/>
            </a:endParaRPr>
          </a:p>
          <a:p>
            <a:endParaRPr lang="en-JP" dirty="0">
              <a:latin typeface="Courier New" panose="02070309020205020404" pitchFamily="49" charset="0"/>
              <a:ea typeface="Meiryo" panose="020B0604030504040204" pitchFamily="34" charset="-128"/>
              <a:cs typeface="Courier New" panose="02070309020205020404" pitchFamily="49" charset="0"/>
            </a:endParaRPr>
          </a:p>
          <a:p>
            <a:endParaRPr lang="en-JP" dirty="0">
              <a:latin typeface="Courier New" panose="02070309020205020404" pitchFamily="49" charset="0"/>
              <a:ea typeface="Meiryo" panose="020B0604030504040204" pitchFamily="34" charset="-128"/>
              <a:cs typeface="Courier New" panose="02070309020205020404" pitchFamily="49" charset="0"/>
            </a:endParaRPr>
          </a:p>
          <a:p>
            <a:r>
              <a:rPr lang="en-JP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	</a:t>
            </a:r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60795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DDE850-3B3F-169E-658B-324133BBE9CD}"/>
              </a:ext>
            </a:extLst>
          </p:cNvPr>
          <p:cNvSpPr txBox="1"/>
          <p:nvPr/>
        </p:nvSpPr>
        <p:spPr>
          <a:xfrm>
            <a:off x="436039" y="272678"/>
            <a:ext cx="6904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800" dirty="0">
                <a:latin typeface="Meiryo" panose="020B0604030504040204" pitchFamily="34" charset="-128"/>
                <a:ea typeface="Meiryo" panose="020B0604030504040204" pitchFamily="34" charset="-128"/>
              </a:rPr>
              <a:t>MDP/DRC	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8F01EF-195C-4D2D-D5D8-B31A4CD5C06C}"/>
              </a:ext>
            </a:extLst>
          </p:cNvPr>
          <p:cNvSpPr txBox="1"/>
          <p:nvPr/>
        </p:nvSpPr>
        <p:spPr>
          <a:xfrm>
            <a:off x="529265" y="913621"/>
            <a:ext cx="11170045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000" dirty="0">
                <a:latin typeface="Meiryo" panose="020B0604030504040204" pitchFamily="34" charset="-128"/>
                <a:ea typeface="Meiryo" panose="020B0604030504040204" pitchFamily="34" charset="-128"/>
              </a:rPr>
              <a:t>GitHub/TR-1um/GDSII/</a:t>
            </a:r>
          </a:p>
          <a:p>
            <a:endParaRPr lang="en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以下のフォルダーを作りました。</a:t>
            </a:r>
            <a:endParaRPr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 １．</a:t>
            </a:r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20250924_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OSS_Workshop</a:t>
            </a:r>
          </a:p>
          <a:p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 ２．20250924_OSS_Workshop_TR-1um</a:t>
            </a:r>
          </a:p>
          <a:p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 ３．20250924_OSS_Workshop_IP62</a:t>
            </a:r>
          </a:p>
          <a:p>
            <a:endParaRPr lang="en-US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（１）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は、９月のワークショップの最終</a:t>
            </a:r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GDSII </a:t>
            </a:r>
          </a:p>
          <a:p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（２）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は、（１）を</a:t>
            </a:r>
            <a:r>
              <a:rPr lang="en-US" sz="1600" dirty="0" err="1">
                <a:latin typeface="Meiryo" panose="020B0604030504040204" pitchFamily="34" charset="-128"/>
                <a:ea typeface="Meiryo" panose="020B0604030504040204" pitchFamily="34" charset="-128"/>
              </a:rPr>
              <a:t>Drawiing</a:t>
            </a:r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 Layer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に </a:t>
            </a:r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Python Script 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で自動変更した</a:t>
            </a:r>
            <a:r>
              <a:rPr lang="en-US" sz="1600" dirty="0" err="1">
                <a:latin typeface="Meiryo" panose="020B0604030504040204" pitchFamily="34" charset="-128"/>
                <a:ea typeface="Meiryo" panose="020B0604030504040204" pitchFamily="34" charset="-128"/>
              </a:rPr>
              <a:t>gds</a:t>
            </a:r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。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階層は</a:t>
            </a:r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PCELL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以外は保存されています。 </a:t>
            </a:r>
            <a:endParaRPr lang="en-US" altLang="ja-JP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（３）は、（２）を</a:t>
            </a:r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MDP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用の</a:t>
            </a:r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DRC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にてフラットで</a:t>
            </a:r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IP62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に必要なレイヤーを発生したものです。</a:t>
            </a:r>
            <a:endParaRPr lang="en-US" altLang="ja-JP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en-US" altLang="ja-JP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  <a:cs typeface="Courier New" panose="02070309020205020404" pitchFamily="49" charset="0"/>
              </a:rPr>
              <a:t>オリジナルのIP62のDRCでは、Floating Gateのエラーがでます。</a:t>
            </a:r>
          </a:p>
          <a:p>
            <a:r>
              <a:rPr lang="ja-JP" altLang="en-US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Courier New" panose="02070309020205020404" pitchFamily="49" charset="0"/>
              </a:rPr>
              <a:t>　</a:t>
            </a:r>
            <a:r>
              <a:rPr lang="en-JP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Courier New" panose="02070309020205020404" pitchFamily="49" charset="0"/>
              </a:rPr>
              <a:t>＞</a:t>
            </a:r>
            <a:r>
              <a:rPr lang="ja-JP" altLang="en-US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Courier New" panose="02070309020205020404" pitchFamily="49" charset="0"/>
              </a:rPr>
              <a:t>　</a:t>
            </a:r>
            <a:r>
              <a:rPr lang="en-US" altLang="ja-JP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Courier New" panose="02070309020205020404" pitchFamily="49" charset="0"/>
              </a:rPr>
              <a:t>ESD</a:t>
            </a:r>
            <a:r>
              <a:rPr lang="ja-JP" altLang="en-US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Courier New" panose="02070309020205020404" pitchFamily="49" charset="0"/>
              </a:rPr>
              <a:t>で接地されているので、</a:t>
            </a:r>
            <a:r>
              <a:rPr lang="en-US" altLang="ja-JP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Courier New" panose="02070309020205020404" pitchFamily="49" charset="0"/>
              </a:rPr>
              <a:t>Floating </a:t>
            </a:r>
            <a:r>
              <a:rPr lang="ja-JP" altLang="en-US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Courier New" panose="02070309020205020404" pitchFamily="49" charset="0"/>
              </a:rPr>
              <a:t>ではありません。＜　</a:t>
            </a:r>
            <a:r>
              <a:rPr lang="en-US" altLang="ja-JP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Courier New" panose="02070309020205020404" pitchFamily="49" charset="0"/>
              </a:rPr>
              <a:t>Floating</a:t>
            </a:r>
            <a:r>
              <a:rPr lang="ja-JP" altLang="en-US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Courier New" panose="02070309020205020404" pitchFamily="49" charset="0"/>
              </a:rPr>
              <a:t>の定義を教えてください。</a:t>
            </a:r>
            <a:endParaRPr lang="en-JP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  <a:cs typeface="Courier New" panose="02070309020205020404" pitchFamily="49" charset="0"/>
            </a:endParaRPr>
          </a:p>
          <a:p>
            <a:endParaRPr lang="en-JP" dirty="0">
              <a:latin typeface="Meiryo" panose="020B0604030504040204" pitchFamily="34" charset="-128"/>
              <a:ea typeface="Meiryo" panose="020B0604030504040204" pitchFamily="34" charset="-128"/>
              <a:cs typeface="Courier New" panose="02070309020205020404" pitchFamily="49" charset="0"/>
            </a:endParaRPr>
          </a:p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  <a:cs typeface="Courier New" panose="02070309020205020404" pitchFamily="49" charset="0"/>
              </a:rPr>
              <a:t>（３）のGDSIIのSignOff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  <a:cs typeface="Courier New" panose="02070309020205020404" pitchFamily="49" charset="0"/>
              </a:rPr>
              <a:t> DRC </a:t>
            </a:r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  <a:cs typeface="Courier New" panose="02070309020205020404" pitchFamily="49" charset="0"/>
              </a:rPr>
              <a:t>チェックをお願いします。</a:t>
            </a:r>
          </a:p>
          <a:p>
            <a:endParaRPr lang="en-JP" dirty="0">
              <a:latin typeface="Meiryo" panose="020B0604030504040204" pitchFamily="34" charset="-128"/>
              <a:ea typeface="Meiryo" panose="020B0604030504040204" pitchFamily="34" charset="-128"/>
              <a:cs typeface="Courier New" panose="02070309020205020404" pitchFamily="49" charset="0"/>
            </a:endParaRPr>
          </a:p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  <a:cs typeface="Courier New" panose="02070309020205020404" pitchFamily="49" charset="0"/>
              </a:rPr>
              <a:t>	</a:t>
            </a:r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22861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3782</TotalTime>
  <Words>455</Words>
  <Application>Microsoft Macintosh PowerPoint</Application>
  <PresentationFormat>Widescreen</PresentationFormat>
  <Paragraphs>95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HGMaruGothicMPRO</vt:lpstr>
      <vt:lpstr>Meiryo</vt:lpstr>
      <vt:lpstr>Aptos</vt:lpstr>
      <vt:lpstr>Aptos Display</vt:lpstr>
      <vt:lpstr>Arial</vt:lpstr>
      <vt:lpstr>Courier New</vt:lpstr>
      <vt:lpstr>Office Theme</vt:lpstr>
      <vt:lpstr>質問・確認事項  2026/01/13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 OKAMURA/岡村淳一</dc:creator>
  <cp:lastModifiedBy>Jun OKAMURA/岡村淳一</cp:lastModifiedBy>
  <cp:revision>50</cp:revision>
  <cp:lastPrinted>2025-12-26T07:04:29Z</cp:lastPrinted>
  <dcterms:created xsi:type="dcterms:W3CDTF">2025-11-21T00:35:17Z</dcterms:created>
  <dcterms:modified xsi:type="dcterms:W3CDTF">2026-01-23T02:24:14Z</dcterms:modified>
</cp:coreProperties>
</file>